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87" r:id="rId4"/>
    <p:sldId id="281" r:id="rId5"/>
    <p:sldId id="284" r:id="rId6"/>
    <p:sldId id="283" r:id="rId7"/>
    <p:sldId id="285" r:id="rId8"/>
    <p:sldId id="282" r:id="rId9"/>
    <p:sldId id="286" r:id="rId10"/>
    <p:sldId id="266" r:id="rId11"/>
    <p:sldId id="278" r:id="rId12"/>
    <p:sldId id="279" r:id="rId13"/>
    <p:sldId id="28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7EF398-1BCA-1144-8127-E0F317F7C654}" v="124" dt="2025-11-07T04:01:02.553"/>
    <p1510:client id="{D3A3D7C3-98F9-47CB-8873-8579089755AF}" v="46" dt="2025-11-07T03:22:54.487"/>
    <p1510:client id="{EBD7234B-E829-79AF-448C-5D130493947D}" v="25" dt="2025-11-07T02:56:39.6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68"/>
  </p:normalViewPr>
  <p:slideViewPr>
    <p:cSldViewPr snapToGrid="0">
      <p:cViewPr varScale="1">
        <p:scale>
          <a:sx n="119" d="100"/>
          <a:sy n="119" d="100"/>
        </p:scale>
        <p:origin x="21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E3CD-D30D-4A6D-9136-9A2E8C200240}" type="datetimeFigureOut">
              <a:rPr lang="en-US" smtClean="0"/>
              <a:t>11/6/25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E4E137-E7CD-42E1-8DA9-521D84C8F1F6}" type="slidenum">
              <a:rPr lang="en-US" smtClean="0"/>
              <a:t>‹#›</a:t>
            </a:fld>
            <a:endParaRPr lang="en-US"/>
          </a:p>
        </p:txBody>
      </p:sp>
    </p:spTree>
    <p:extLst>
      <p:ext uri="{BB962C8B-B14F-4D97-AF65-F5344CB8AC3E}">
        <p14:creationId xmlns:p14="http://schemas.microsoft.com/office/powerpoint/2010/main" val="148236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RUTH – 1 MIN</a:t>
            </a:r>
          </a:p>
          <a:p>
            <a:endParaRPr lang="en-US" b="1"/>
          </a:p>
          <a:p>
            <a:r>
              <a:rPr lang="en-US" b="0"/>
              <a:t>The first step in any machine learning process is preprocessing the data</a:t>
            </a:r>
          </a:p>
          <a:p>
            <a:pPr marL="228600" indent="-228600">
              <a:buAutoNum type="arabicPeriod"/>
            </a:pPr>
            <a:r>
              <a:rPr lang="en-US" b="0"/>
              <a:t>Import the data and structure it as a pandas DataFrame</a:t>
            </a:r>
          </a:p>
          <a:p>
            <a:pPr marL="228600" indent="-228600">
              <a:buAutoNum type="arabicPeriod"/>
            </a:pPr>
            <a:r>
              <a:rPr lang="en-US" b="0"/>
              <a:t>Check for missing (in this case NULL and NA values); these would disrupt the processing</a:t>
            </a:r>
          </a:p>
          <a:p>
            <a:pPr marL="228600" indent="-228600">
              <a:buAutoNum type="arabicPeriod"/>
            </a:pPr>
            <a:r>
              <a:rPr lang="en-US" b="0"/>
              <a:t>Prepare the inputs; for categorical variables this meant encoding them using the </a:t>
            </a:r>
            <a:r>
              <a:rPr lang="en-US" b="0" err="1"/>
              <a:t>SciKitLearn’s</a:t>
            </a:r>
            <a:r>
              <a:rPr lang="en-US" b="0"/>
              <a:t> </a:t>
            </a:r>
            <a:r>
              <a:rPr lang="en-US" b="0" err="1"/>
              <a:t>LabelEncoder</a:t>
            </a:r>
            <a:r>
              <a:rPr lang="en-US" b="0"/>
              <a:t> function</a:t>
            </a:r>
          </a:p>
          <a:p>
            <a:pPr marL="228600" indent="-228600">
              <a:buAutoNum type="arabicPeriod"/>
            </a:pPr>
            <a:r>
              <a:rPr lang="en-US" b="0"/>
              <a:t>For numerical variables this means scaling them by their variance so that numerical features with very large/small numbers or wide ranges don’t impact the model</a:t>
            </a:r>
          </a:p>
          <a:p>
            <a:pPr marL="228600" indent="-228600">
              <a:buAutoNum type="arabicPeriod"/>
            </a:pPr>
            <a:r>
              <a:rPr lang="en-US" b="0"/>
              <a:t>Finally we export as a CSV file so that it can be input</a:t>
            </a:r>
          </a:p>
          <a:p>
            <a:endParaRPr lang="en-US" b="1"/>
          </a:p>
        </p:txBody>
      </p:sp>
      <p:sp>
        <p:nvSpPr>
          <p:cNvPr id="4" name="Slide Number Placeholder 3"/>
          <p:cNvSpPr>
            <a:spLocks noGrp="1"/>
          </p:cNvSpPr>
          <p:nvPr>
            <p:ph type="sldNum" sz="quarter" idx="5"/>
          </p:nvPr>
        </p:nvSpPr>
        <p:spPr/>
        <p:txBody>
          <a:bodyPr/>
          <a:lstStyle/>
          <a:p>
            <a:fld id="{4FE4E137-E7CD-42E1-8DA9-521D84C8F1F6}" type="slidenum">
              <a:rPr lang="en-US" smtClean="0"/>
              <a:t>2</a:t>
            </a:fld>
            <a:endParaRPr lang="en-US"/>
          </a:p>
        </p:txBody>
      </p:sp>
    </p:spTree>
    <p:extLst>
      <p:ext uri="{BB962C8B-B14F-4D97-AF65-F5344CB8AC3E}">
        <p14:creationId xmlns:p14="http://schemas.microsoft.com/office/powerpoint/2010/main" val="1713212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81F41-330E-3CC1-E649-2C3F6CC51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7994C-EDB0-4484-900E-EB30909C9D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840FC-7ABC-9027-8A80-B5A9DF737B01}"/>
              </a:ext>
            </a:extLst>
          </p:cNvPr>
          <p:cNvSpPr>
            <a:spLocks noGrp="1"/>
          </p:cNvSpPr>
          <p:nvPr>
            <p:ph type="body" idx="1"/>
          </p:nvPr>
        </p:nvSpPr>
        <p:spPr/>
        <p:txBody>
          <a:bodyPr/>
          <a:lstStyle/>
          <a:p>
            <a:r>
              <a:rPr lang="en-US" b="1"/>
              <a:t>RUTH – 1 MIN</a:t>
            </a:r>
          </a:p>
          <a:p>
            <a:endParaRPr lang="en-US" b="1"/>
          </a:p>
          <a:p>
            <a:r>
              <a:rPr lang="en-US" b="0"/>
              <a:t>The first step in any machine learning process is preprocessing the data</a:t>
            </a:r>
          </a:p>
          <a:p>
            <a:pPr marL="228600" indent="-228600">
              <a:buAutoNum type="arabicPeriod"/>
            </a:pPr>
            <a:r>
              <a:rPr lang="en-US" b="0"/>
              <a:t>Import the data and structure it as a pandas DataFrame</a:t>
            </a:r>
          </a:p>
          <a:p>
            <a:pPr marL="228600" indent="-228600">
              <a:buAutoNum type="arabicPeriod"/>
            </a:pPr>
            <a:r>
              <a:rPr lang="en-US" b="0"/>
              <a:t>Check for missing (in this case NULL and NA values); these would disrupt the processing</a:t>
            </a:r>
          </a:p>
          <a:p>
            <a:pPr marL="228600" indent="-228600">
              <a:buAutoNum type="arabicPeriod"/>
            </a:pPr>
            <a:r>
              <a:rPr lang="en-US" b="0"/>
              <a:t>Prepare the inputs; for categorical variables this meant encoding them using the </a:t>
            </a:r>
            <a:r>
              <a:rPr lang="en-US" b="0" err="1"/>
              <a:t>SciKitLearn’s</a:t>
            </a:r>
            <a:r>
              <a:rPr lang="en-US" b="0"/>
              <a:t> </a:t>
            </a:r>
            <a:r>
              <a:rPr lang="en-US" b="0" err="1"/>
              <a:t>LabelEncoder</a:t>
            </a:r>
            <a:r>
              <a:rPr lang="en-US" b="0"/>
              <a:t> function</a:t>
            </a:r>
          </a:p>
          <a:p>
            <a:pPr marL="228600" indent="-228600">
              <a:buAutoNum type="arabicPeriod"/>
            </a:pPr>
            <a:r>
              <a:rPr lang="en-US" b="0"/>
              <a:t>For numerical variables this means scaling them by their variance so that numerical features with very large/small numbers or wide ranges don’t impact the model</a:t>
            </a:r>
          </a:p>
          <a:p>
            <a:pPr marL="228600" indent="-228600">
              <a:buAutoNum type="arabicPeriod"/>
            </a:pPr>
            <a:r>
              <a:rPr lang="en-US" b="0"/>
              <a:t>Finally we export as a CSV file so that it can be input</a:t>
            </a:r>
          </a:p>
          <a:p>
            <a:endParaRPr lang="en-US" b="1"/>
          </a:p>
        </p:txBody>
      </p:sp>
      <p:sp>
        <p:nvSpPr>
          <p:cNvPr id="4" name="Slide Number Placeholder 3">
            <a:extLst>
              <a:ext uri="{FF2B5EF4-FFF2-40B4-BE49-F238E27FC236}">
                <a16:creationId xmlns:a16="http://schemas.microsoft.com/office/drawing/2014/main" id="{415D775E-BF6E-50FA-489C-2B89FBC00B88}"/>
              </a:ext>
            </a:extLst>
          </p:cNvPr>
          <p:cNvSpPr>
            <a:spLocks noGrp="1"/>
          </p:cNvSpPr>
          <p:nvPr>
            <p:ph type="sldNum" sz="quarter" idx="5"/>
          </p:nvPr>
        </p:nvSpPr>
        <p:spPr/>
        <p:txBody>
          <a:bodyPr/>
          <a:lstStyle/>
          <a:p>
            <a:fld id="{4FE4E137-E7CD-42E1-8DA9-521D84C8F1F6}" type="slidenum">
              <a:rPr lang="en-US" smtClean="0"/>
              <a:t>3</a:t>
            </a:fld>
            <a:endParaRPr lang="en-US"/>
          </a:p>
        </p:txBody>
      </p:sp>
    </p:spTree>
    <p:extLst>
      <p:ext uri="{BB962C8B-B14F-4D97-AF65-F5344CB8AC3E}">
        <p14:creationId xmlns:p14="http://schemas.microsoft.com/office/powerpoint/2010/main" val="2766886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RUTH</a:t>
            </a:r>
          </a:p>
        </p:txBody>
      </p:sp>
      <p:sp>
        <p:nvSpPr>
          <p:cNvPr id="4" name="Slide Number Placeholder 3"/>
          <p:cNvSpPr>
            <a:spLocks noGrp="1"/>
          </p:cNvSpPr>
          <p:nvPr>
            <p:ph type="sldNum" sz="quarter" idx="5"/>
          </p:nvPr>
        </p:nvSpPr>
        <p:spPr/>
        <p:txBody>
          <a:bodyPr/>
          <a:lstStyle/>
          <a:p>
            <a:fld id="{4FE4E137-E7CD-42E1-8DA9-521D84C8F1F6}" type="slidenum">
              <a:rPr lang="en-US" smtClean="0"/>
              <a:t>4</a:t>
            </a:fld>
            <a:endParaRPr lang="en-US"/>
          </a:p>
        </p:txBody>
      </p:sp>
    </p:spTree>
    <p:extLst>
      <p:ext uri="{BB962C8B-B14F-4D97-AF65-F5344CB8AC3E}">
        <p14:creationId xmlns:p14="http://schemas.microsoft.com/office/powerpoint/2010/main" val="3587097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RUTH</a:t>
            </a:r>
          </a:p>
        </p:txBody>
      </p:sp>
      <p:sp>
        <p:nvSpPr>
          <p:cNvPr id="4" name="Slide Number Placeholder 3"/>
          <p:cNvSpPr>
            <a:spLocks noGrp="1"/>
          </p:cNvSpPr>
          <p:nvPr>
            <p:ph type="sldNum" sz="quarter" idx="5"/>
          </p:nvPr>
        </p:nvSpPr>
        <p:spPr/>
        <p:txBody>
          <a:bodyPr/>
          <a:lstStyle/>
          <a:p>
            <a:fld id="{4FE4E137-E7CD-42E1-8DA9-521D84C8F1F6}" type="slidenum">
              <a:rPr lang="en-US" smtClean="0"/>
              <a:t>5</a:t>
            </a:fld>
            <a:endParaRPr lang="en-US"/>
          </a:p>
        </p:txBody>
      </p:sp>
    </p:spTree>
    <p:extLst>
      <p:ext uri="{BB962C8B-B14F-4D97-AF65-F5344CB8AC3E}">
        <p14:creationId xmlns:p14="http://schemas.microsoft.com/office/powerpoint/2010/main" val="3793695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a:solidFill>
                  <a:schemeClr val="tx1"/>
                </a:solidFill>
                <a:effectLst/>
                <a:latin typeface="+mn-lt"/>
                <a:ea typeface="+mn-ea"/>
                <a:cs typeface="+mn-cs"/>
              </a:rPr>
              <a:t>RUTH</a:t>
            </a:r>
          </a:p>
          <a:p>
            <a:r>
              <a:rPr lang="en-US" sz="1200" b="0" kern="1200">
                <a:solidFill>
                  <a:schemeClr val="tx1"/>
                </a:solidFill>
                <a:effectLst/>
                <a:latin typeface="+mn-lt"/>
                <a:ea typeface="+mn-ea"/>
                <a:cs typeface="+mn-cs"/>
              </a:rPr>
              <a:t>- While '</a:t>
            </a:r>
            <a:r>
              <a:rPr lang="en-US" sz="1200" b="0" kern="1200" err="1">
                <a:solidFill>
                  <a:schemeClr val="tx1"/>
                </a:solidFill>
                <a:effectLst/>
                <a:latin typeface="+mn-lt"/>
                <a:ea typeface="+mn-ea"/>
                <a:cs typeface="+mn-cs"/>
              </a:rPr>
              <a:t>lbfgs</a:t>
            </a:r>
            <a:r>
              <a:rPr lang="en-US" sz="1200" b="0" kern="1200">
                <a:solidFill>
                  <a:schemeClr val="tx1"/>
                </a:solidFill>
                <a:effectLst/>
                <a:latin typeface="+mn-lt"/>
                <a:ea typeface="+mn-ea"/>
                <a:cs typeface="+mn-cs"/>
              </a:rPr>
              <a:t>' is a commonly used solver, it preforms poorly for this dataset, and often fails to converge even with a high `</a:t>
            </a:r>
            <a:r>
              <a:rPr lang="en-US" sz="1200" b="0" kern="1200" err="1">
                <a:solidFill>
                  <a:schemeClr val="tx1"/>
                </a:solidFill>
                <a:effectLst/>
                <a:latin typeface="+mn-lt"/>
                <a:ea typeface="+mn-ea"/>
                <a:cs typeface="+mn-cs"/>
              </a:rPr>
              <a:t>max_iter</a:t>
            </a:r>
            <a:r>
              <a:rPr lang="en-US" sz="1200" b="0" kern="1200">
                <a:solidFill>
                  <a:schemeClr val="tx1"/>
                </a:solidFill>
                <a:effectLst/>
                <a:latin typeface="+mn-lt"/>
                <a:ea typeface="+mn-ea"/>
                <a:cs typeface="+mn-cs"/>
              </a:rPr>
              <a:t>`. This makes sense given that the dataset contains several one-hot-encoded categorical features (and therefore a high-dimensional feature space). '</a:t>
            </a:r>
            <a:r>
              <a:rPr lang="en-US" sz="1200" b="0" kern="1200" err="1">
                <a:solidFill>
                  <a:schemeClr val="tx1"/>
                </a:solidFill>
                <a:effectLst/>
                <a:latin typeface="+mn-lt"/>
                <a:ea typeface="+mn-ea"/>
                <a:cs typeface="+mn-cs"/>
              </a:rPr>
              <a:t>sgd</a:t>
            </a:r>
            <a:r>
              <a:rPr lang="en-US" sz="1200" b="0" kern="1200">
                <a:solidFill>
                  <a:schemeClr val="tx1"/>
                </a:solidFill>
                <a:effectLst/>
                <a:latin typeface="+mn-lt"/>
                <a:ea typeface="+mn-ea"/>
                <a:cs typeface="+mn-cs"/>
              </a:rPr>
              <a:t>', which is better at handling this kind of data, was able to achieve much higher convergence rates</a:t>
            </a:r>
          </a:p>
          <a:p>
            <a:r>
              <a:rPr lang="en-US" sz="1200" b="0" kern="1200">
                <a:solidFill>
                  <a:schemeClr val="tx1"/>
                </a:solidFill>
                <a:effectLst/>
                <a:latin typeface="+mn-lt"/>
                <a:ea typeface="+mn-ea"/>
                <a:cs typeface="+mn-cs"/>
              </a:rPr>
              <a:t>- Using a high learning rate often results in failure to converge, so we should keep learning rate at or below 0.01</a:t>
            </a:r>
          </a:p>
          <a:p>
            <a:r>
              <a:rPr lang="en-US" sz="1200" b="0" kern="1200">
                <a:solidFill>
                  <a:schemeClr val="tx1"/>
                </a:solidFill>
                <a:effectLst/>
                <a:latin typeface="+mn-lt"/>
                <a:ea typeface="+mn-ea"/>
                <a:cs typeface="+mn-cs"/>
              </a:rPr>
              <a:t>- Higher regularization values seem to </a:t>
            </a:r>
            <a:r>
              <a:rPr lang="en-US" sz="1200" b="0" kern="1200" err="1">
                <a:solidFill>
                  <a:schemeClr val="tx1"/>
                </a:solidFill>
                <a:effectLst/>
                <a:latin typeface="+mn-lt"/>
                <a:ea typeface="+mn-ea"/>
                <a:cs typeface="+mn-cs"/>
              </a:rPr>
              <a:t>converege</a:t>
            </a:r>
            <a:r>
              <a:rPr lang="en-US" sz="1200" b="0" kern="1200">
                <a:solidFill>
                  <a:schemeClr val="tx1"/>
                </a:solidFill>
                <a:effectLst/>
                <a:latin typeface="+mn-lt"/>
                <a:ea typeface="+mn-ea"/>
                <a:cs typeface="+mn-cs"/>
              </a:rPr>
              <a:t> more often</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a:solidFill>
                  <a:schemeClr val="tx1"/>
                </a:solidFill>
                <a:effectLst/>
                <a:latin typeface="+mn-lt"/>
                <a:ea typeface="+mn-ea"/>
                <a:cs typeface="+mn-cs"/>
              </a:rPr>
              <a:t>This dataset generally seems to favor stochastic solvers, small learning rates, and stronger regularization for reliable convergence. This is consistent with what we understand about the dataset’s sparse, imbalanced, and mixed-type features. </a:t>
            </a:r>
          </a:p>
        </p:txBody>
      </p:sp>
      <p:sp>
        <p:nvSpPr>
          <p:cNvPr id="4" name="Slide Number Placeholder 3"/>
          <p:cNvSpPr>
            <a:spLocks noGrp="1"/>
          </p:cNvSpPr>
          <p:nvPr>
            <p:ph type="sldNum" sz="quarter" idx="5"/>
          </p:nvPr>
        </p:nvSpPr>
        <p:spPr/>
        <p:txBody>
          <a:bodyPr/>
          <a:lstStyle/>
          <a:p>
            <a:fld id="{4FE4E137-E7CD-42E1-8DA9-521D84C8F1F6}" type="slidenum">
              <a:rPr lang="en-US" smtClean="0"/>
              <a:t>6</a:t>
            </a:fld>
            <a:endParaRPr lang="en-US"/>
          </a:p>
        </p:txBody>
      </p:sp>
    </p:spTree>
    <p:extLst>
      <p:ext uri="{BB962C8B-B14F-4D97-AF65-F5344CB8AC3E}">
        <p14:creationId xmlns:p14="http://schemas.microsoft.com/office/powerpoint/2010/main" val="1713196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RUTH</a:t>
            </a:r>
          </a:p>
        </p:txBody>
      </p:sp>
      <p:sp>
        <p:nvSpPr>
          <p:cNvPr id="4" name="Slide Number Placeholder 3"/>
          <p:cNvSpPr>
            <a:spLocks noGrp="1"/>
          </p:cNvSpPr>
          <p:nvPr>
            <p:ph type="sldNum" sz="quarter" idx="5"/>
          </p:nvPr>
        </p:nvSpPr>
        <p:spPr/>
        <p:txBody>
          <a:bodyPr/>
          <a:lstStyle/>
          <a:p>
            <a:fld id="{4FE4E137-E7CD-42E1-8DA9-521D84C8F1F6}" type="slidenum">
              <a:rPr lang="en-US" smtClean="0"/>
              <a:t>7</a:t>
            </a:fld>
            <a:endParaRPr lang="en-US"/>
          </a:p>
        </p:txBody>
      </p:sp>
    </p:spTree>
    <p:extLst>
      <p:ext uri="{BB962C8B-B14F-4D97-AF65-F5344CB8AC3E}">
        <p14:creationId xmlns:p14="http://schemas.microsoft.com/office/powerpoint/2010/main" val="1644994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6D91B-F681-66E0-E6E6-82F565894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75686-BE97-5842-1E83-0F2EEF0A3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63EF4A-DCFA-7755-7FD0-5B9B23B69656}"/>
              </a:ext>
            </a:extLst>
          </p:cNvPr>
          <p:cNvSpPr>
            <a:spLocks noGrp="1"/>
          </p:cNvSpPr>
          <p:nvPr>
            <p:ph type="body" idx="1"/>
          </p:nvPr>
        </p:nvSpPr>
        <p:spPr/>
        <p:txBody>
          <a:bodyPr/>
          <a:lstStyle/>
          <a:p>
            <a:r>
              <a:rPr lang="en-US"/>
              <a:t>RUTH</a:t>
            </a:r>
          </a:p>
        </p:txBody>
      </p:sp>
      <p:sp>
        <p:nvSpPr>
          <p:cNvPr id="4" name="Slide Number Placeholder 3">
            <a:extLst>
              <a:ext uri="{FF2B5EF4-FFF2-40B4-BE49-F238E27FC236}">
                <a16:creationId xmlns:a16="http://schemas.microsoft.com/office/drawing/2014/main" id="{3D52972B-DFAF-19A3-D74A-3FD2B67BE972}"/>
              </a:ext>
            </a:extLst>
          </p:cNvPr>
          <p:cNvSpPr>
            <a:spLocks noGrp="1"/>
          </p:cNvSpPr>
          <p:nvPr>
            <p:ph type="sldNum" sz="quarter" idx="5"/>
          </p:nvPr>
        </p:nvSpPr>
        <p:spPr/>
        <p:txBody>
          <a:bodyPr/>
          <a:lstStyle/>
          <a:p>
            <a:fld id="{4FE4E137-E7CD-42E1-8DA9-521D84C8F1F6}" type="slidenum">
              <a:rPr lang="en-US" smtClean="0"/>
              <a:t>8</a:t>
            </a:fld>
            <a:endParaRPr lang="en-US"/>
          </a:p>
        </p:txBody>
      </p:sp>
    </p:spTree>
    <p:extLst>
      <p:ext uri="{BB962C8B-B14F-4D97-AF65-F5344CB8AC3E}">
        <p14:creationId xmlns:p14="http://schemas.microsoft.com/office/powerpoint/2010/main" val="2457587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RUTH</a:t>
            </a:r>
          </a:p>
        </p:txBody>
      </p:sp>
      <p:sp>
        <p:nvSpPr>
          <p:cNvPr id="4" name="Slide Number Placeholder 3"/>
          <p:cNvSpPr>
            <a:spLocks noGrp="1"/>
          </p:cNvSpPr>
          <p:nvPr>
            <p:ph type="sldNum" sz="quarter" idx="5"/>
          </p:nvPr>
        </p:nvSpPr>
        <p:spPr/>
        <p:txBody>
          <a:bodyPr/>
          <a:lstStyle/>
          <a:p>
            <a:fld id="{4FE4E137-E7CD-42E1-8DA9-521D84C8F1F6}" type="slidenum">
              <a:rPr lang="en-US" smtClean="0"/>
              <a:t>9</a:t>
            </a:fld>
            <a:endParaRPr lang="en-US"/>
          </a:p>
        </p:txBody>
      </p:sp>
    </p:spTree>
    <p:extLst>
      <p:ext uri="{BB962C8B-B14F-4D97-AF65-F5344CB8AC3E}">
        <p14:creationId xmlns:p14="http://schemas.microsoft.com/office/powerpoint/2010/main" val="402650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ADDIE</a:t>
            </a:r>
          </a:p>
        </p:txBody>
      </p:sp>
      <p:sp>
        <p:nvSpPr>
          <p:cNvPr id="4" name="Slide Number Placeholder 3"/>
          <p:cNvSpPr>
            <a:spLocks noGrp="1"/>
          </p:cNvSpPr>
          <p:nvPr>
            <p:ph type="sldNum" sz="quarter" idx="5"/>
          </p:nvPr>
        </p:nvSpPr>
        <p:spPr/>
        <p:txBody>
          <a:bodyPr/>
          <a:lstStyle/>
          <a:p>
            <a:fld id="{4FE4E137-E7CD-42E1-8DA9-521D84C8F1F6}" type="slidenum">
              <a:rPr lang="en-US" smtClean="0"/>
              <a:t>10</a:t>
            </a:fld>
            <a:endParaRPr lang="en-US"/>
          </a:p>
        </p:txBody>
      </p:sp>
    </p:spTree>
    <p:extLst>
      <p:ext uri="{BB962C8B-B14F-4D97-AF65-F5344CB8AC3E}">
        <p14:creationId xmlns:p14="http://schemas.microsoft.com/office/powerpoint/2010/main" val="2063902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439AF-53BB-A6AF-CAEB-63645FB32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90EE2-C8F1-E8CA-A112-9B740460F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F06229-3373-B829-4AEF-8478B9CEC85A}"/>
              </a:ext>
            </a:extLst>
          </p:cNvPr>
          <p:cNvSpPr>
            <a:spLocks noGrp="1"/>
          </p:cNvSpPr>
          <p:nvPr>
            <p:ph type="body" idx="1"/>
          </p:nvPr>
        </p:nvSpPr>
        <p:spPr/>
        <p:txBody>
          <a:bodyPr/>
          <a:lstStyle/>
          <a:p>
            <a:r>
              <a:rPr lang="en-US" b="1" dirty="0"/>
              <a:t>ADDIE</a:t>
            </a:r>
          </a:p>
        </p:txBody>
      </p:sp>
      <p:sp>
        <p:nvSpPr>
          <p:cNvPr id="4" name="Slide Number Placeholder 3">
            <a:extLst>
              <a:ext uri="{FF2B5EF4-FFF2-40B4-BE49-F238E27FC236}">
                <a16:creationId xmlns:a16="http://schemas.microsoft.com/office/drawing/2014/main" id="{2D81C12C-A4B8-C674-6DDC-BD40C57A23F5}"/>
              </a:ext>
            </a:extLst>
          </p:cNvPr>
          <p:cNvSpPr>
            <a:spLocks noGrp="1"/>
          </p:cNvSpPr>
          <p:nvPr>
            <p:ph type="sldNum" sz="quarter" idx="5"/>
          </p:nvPr>
        </p:nvSpPr>
        <p:spPr/>
        <p:txBody>
          <a:bodyPr/>
          <a:lstStyle/>
          <a:p>
            <a:fld id="{4FE4E137-E7CD-42E1-8DA9-521D84C8F1F6}" type="slidenum">
              <a:rPr lang="en-US" smtClean="0"/>
              <a:t>11</a:t>
            </a:fld>
            <a:endParaRPr lang="en-US"/>
          </a:p>
        </p:txBody>
      </p:sp>
    </p:spTree>
    <p:extLst>
      <p:ext uri="{BB962C8B-B14F-4D97-AF65-F5344CB8AC3E}">
        <p14:creationId xmlns:p14="http://schemas.microsoft.com/office/powerpoint/2010/main" val="667185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F0330-9712-88DF-977B-2DF649596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275BF-4221-C37F-2E74-3E58482C5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E84A4-CAA7-DA25-D9E5-D68314651C8C}"/>
              </a:ext>
            </a:extLst>
          </p:cNvPr>
          <p:cNvSpPr>
            <a:spLocks noGrp="1"/>
          </p:cNvSpPr>
          <p:nvPr>
            <p:ph type="body" idx="1"/>
          </p:nvPr>
        </p:nvSpPr>
        <p:spPr/>
        <p:txBody>
          <a:bodyPr/>
          <a:lstStyle/>
          <a:p>
            <a:r>
              <a:rPr lang="en-US" b="1"/>
              <a:t>ADDIE</a:t>
            </a:r>
          </a:p>
        </p:txBody>
      </p:sp>
      <p:sp>
        <p:nvSpPr>
          <p:cNvPr id="4" name="Slide Number Placeholder 3">
            <a:extLst>
              <a:ext uri="{FF2B5EF4-FFF2-40B4-BE49-F238E27FC236}">
                <a16:creationId xmlns:a16="http://schemas.microsoft.com/office/drawing/2014/main" id="{4F155B89-CE8F-C6D2-9BD0-5EF00D56DBB2}"/>
              </a:ext>
            </a:extLst>
          </p:cNvPr>
          <p:cNvSpPr>
            <a:spLocks noGrp="1"/>
          </p:cNvSpPr>
          <p:nvPr>
            <p:ph type="sldNum" sz="quarter" idx="5"/>
          </p:nvPr>
        </p:nvSpPr>
        <p:spPr/>
        <p:txBody>
          <a:bodyPr/>
          <a:lstStyle/>
          <a:p>
            <a:fld id="{4FE4E137-E7CD-42E1-8DA9-521D84C8F1F6}" type="slidenum">
              <a:rPr lang="en-US" smtClean="0"/>
              <a:t>12</a:t>
            </a:fld>
            <a:endParaRPr lang="en-US"/>
          </a:p>
        </p:txBody>
      </p:sp>
    </p:spTree>
    <p:extLst>
      <p:ext uri="{BB962C8B-B14F-4D97-AF65-F5344CB8AC3E}">
        <p14:creationId xmlns:p14="http://schemas.microsoft.com/office/powerpoint/2010/main" val="816891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4EF0E-F457-BFA3-7C92-2D6F399E0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D2127-ADCE-AA3B-5618-134A0B20B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4FE429-8B44-E062-BD29-3AFE0F250D45}"/>
              </a:ext>
            </a:extLst>
          </p:cNvPr>
          <p:cNvSpPr>
            <a:spLocks noGrp="1"/>
          </p:cNvSpPr>
          <p:nvPr>
            <p:ph type="body" idx="1"/>
          </p:nvPr>
        </p:nvSpPr>
        <p:spPr/>
        <p:txBody>
          <a:bodyPr/>
          <a:lstStyle/>
          <a:p>
            <a:r>
              <a:rPr lang="en-US" b="1"/>
              <a:t>ADDIE</a:t>
            </a:r>
          </a:p>
        </p:txBody>
      </p:sp>
      <p:sp>
        <p:nvSpPr>
          <p:cNvPr id="4" name="Slide Number Placeholder 3">
            <a:extLst>
              <a:ext uri="{FF2B5EF4-FFF2-40B4-BE49-F238E27FC236}">
                <a16:creationId xmlns:a16="http://schemas.microsoft.com/office/drawing/2014/main" id="{68D37656-E52F-23F2-22BC-9F38259FF40D}"/>
              </a:ext>
            </a:extLst>
          </p:cNvPr>
          <p:cNvSpPr>
            <a:spLocks noGrp="1"/>
          </p:cNvSpPr>
          <p:nvPr>
            <p:ph type="sldNum" sz="quarter" idx="5"/>
          </p:nvPr>
        </p:nvSpPr>
        <p:spPr/>
        <p:txBody>
          <a:bodyPr/>
          <a:lstStyle/>
          <a:p>
            <a:fld id="{4FE4E137-E7CD-42E1-8DA9-521D84C8F1F6}" type="slidenum">
              <a:rPr lang="en-US" smtClean="0"/>
              <a:t>13</a:t>
            </a:fld>
            <a:endParaRPr lang="en-US"/>
          </a:p>
        </p:txBody>
      </p:sp>
    </p:spTree>
    <p:extLst>
      <p:ext uri="{BB962C8B-B14F-4D97-AF65-F5344CB8AC3E}">
        <p14:creationId xmlns:p14="http://schemas.microsoft.com/office/powerpoint/2010/main" val="455524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ADAC9-78F4-D02D-009B-A24387A819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681D0C-2D1E-4CE9-CE83-E89BEE97DE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C0C86F-2CAB-2B7D-AF82-284FAF42A2EB}"/>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5BC6BEE1-6967-52B8-507D-6E27479C6DC3}"/>
              </a:ext>
            </a:extLst>
          </p:cNvPr>
          <p:cNvSpPr>
            <a:spLocks noGrp="1"/>
          </p:cNvSpPr>
          <p:nvPr>
            <p:ph type="ftr" sz="quarter" idx="11"/>
          </p:nvPr>
        </p:nvSpPr>
        <p:spPr/>
        <p:txBody>
          <a:bodyPr/>
          <a:lstStyle/>
          <a:p>
            <a:r>
              <a:rPr lang="en-US"/>
              <a:t>DASC 41103 – Project 1 – Group 29</a:t>
            </a:r>
          </a:p>
        </p:txBody>
      </p:sp>
      <p:sp>
        <p:nvSpPr>
          <p:cNvPr id="6" name="Slide Number Placeholder 5">
            <a:extLst>
              <a:ext uri="{FF2B5EF4-FFF2-40B4-BE49-F238E27FC236}">
                <a16:creationId xmlns:a16="http://schemas.microsoft.com/office/drawing/2014/main" id="{F6476A14-4F2E-ABBA-4C6D-AFD70C371B77}"/>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33914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01F61-48D0-0D64-DE86-A05B90671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325C94-FE47-ABBF-D054-4A97934636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ED8A63-1CDF-E47A-07D3-307E53804774}"/>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74DEC029-4B3F-7DA7-6CB3-7EBBABE9A953}"/>
              </a:ext>
            </a:extLst>
          </p:cNvPr>
          <p:cNvSpPr>
            <a:spLocks noGrp="1"/>
          </p:cNvSpPr>
          <p:nvPr>
            <p:ph type="ftr" sz="quarter" idx="11"/>
          </p:nvPr>
        </p:nvSpPr>
        <p:spPr/>
        <p:txBody>
          <a:bodyPr/>
          <a:lstStyle/>
          <a:p>
            <a:r>
              <a:rPr lang="en-US"/>
              <a:t>DASC 41103 – Project 1 – Group 29</a:t>
            </a:r>
          </a:p>
        </p:txBody>
      </p:sp>
      <p:sp>
        <p:nvSpPr>
          <p:cNvPr id="6" name="Slide Number Placeholder 5">
            <a:extLst>
              <a:ext uri="{FF2B5EF4-FFF2-40B4-BE49-F238E27FC236}">
                <a16:creationId xmlns:a16="http://schemas.microsoft.com/office/drawing/2014/main" id="{266A0F39-F40B-8127-5AAD-99E32B401D91}"/>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968314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F0D88-B660-CFF0-1B49-88899A69EE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6FF3BC-FDBC-4F5D-F366-585BAB73D5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97CEF8-7FC6-1CDB-8F97-A85FFFC2FB5F}"/>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E3174C93-DA00-56BC-AAEB-1C9F49D82C38}"/>
              </a:ext>
            </a:extLst>
          </p:cNvPr>
          <p:cNvSpPr>
            <a:spLocks noGrp="1"/>
          </p:cNvSpPr>
          <p:nvPr>
            <p:ph type="ftr" sz="quarter" idx="11"/>
          </p:nvPr>
        </p:nvSpPr>
        <p:spPr/>
        <p:txBody>
          <a:bodyPr/>
          <a:lstStyle/>
          <a:p>
            <a:r>
              <a:rPr lang="en-US"/>
              <a:t>DASC 41103 – Project 1 – Group 29</a:t>
            </a:r>
          </a:p>
        </p:txBody>
      </p:sp>
      <p:sp>
        <p:nvSpPr>
          <p:cNvPr id="6" name="Slide Number Placeholder 5">
            <a:extLst>
              <a:ext uri="{FF2B5EF4-FFF2-40B4-BE49-F238E27FC236}">
                <a16:creationId xmlns:a16="http://schemas.microsoft.com/office/drawing/2014/main" id="{20F601D8-BACF-86F7-2928-6AD801C50979}"/>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1254317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F585-2D35-D602-3268-5505CE8433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949F3C-300D-B9F1-0C40-43FC241CD6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4EF630-7296-86BD-1F82-37B063A920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384582-043F-090F-B60B-E88C03E551F6}"/>
              </a:ext>
            </a:extLst>
          </p:cNvPr>
          <p:cNvSpPr>
            <a:spLocks noGrp="1"/>
          </p:cNvSpPr>
          <p:nvPr>
            <p:ph type="dt" sz="half" idx="10"/>
          </p:nvPr>
        </p:nvSpPr>
        <p:spPr/>
        <p:txBody>
          <a:bodyPr/>
          <a:lstStyle/>
          <a:p>
            <a:r>
              <a:rPr lang="en-US"/>
              <a:t>9/30/2025</a:t>
            </a:r>
          </a:p>
        </p:txBody>
      </p:sp>
      <p:sp>
        <p:nvSpPr>
          <p:cNvPr id="6" name="Footer Placeholder 5">
            <a:extLst>
              <a:ext uri="{FF2B5EF4-FFF2-40B4-BE49-F238E27FC236}">
                <a16:creationId xmlns:a16="http://schemas.microsoft.com/office/drawing/2014/main" id="{D459731F-1382-5897-7F8E-57BFC7CEE683}"/>
              </a:ext>
            </a:extLst>
          </p:cNvPr>
          <p:cNvSpPr>
            <a:spLocks noGrp="1"/>
          </p:cNvSpPr>
          <p:nvPr>
            <p:ph type="ftr" sz="quarter" idx="11"/>
          </p:nvPr>
        </p:nvSpPr>
        <p:spPr/>
        <p:txBody>
          <a:bodyPr/>
          <a:lstStyle/>
          <a:p>
            <a:r>
              <a:rPr lang="en-US"/>
              <a:t>DASC 41103 – Project 1 – Group 29</a:t>
            </a:r>
          </a:p>
        </p:txBody>
      </p:sp>
      <p:sp>
        <p:nvSpPr>
          <p:cNvPr id="7" name="Slide Number Placeholder 6">
            <a:extLst>
              <a:ext uri="{FF2B5EF4-FFF2-40B4-BE49-F238E27FC236}">
                <a16:creationId xmlns:a16="http://schemas.microsoft.com/office/drawing/2014/main" id="{19E6B04C-A610-38C2-F805-78F0353B0371}"/>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386774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43004-34CF-2369-7B26-C43C2EAA90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D6CFD1-931C-5A5C-513C-C0CFFF2AD9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12EB4E-1470-0EB8-A79A-75310D5AFF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E9A1B9-7981-91BC-1A0A-E9D3A03E4F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12431C-1731-C26F-4244-BD2251BD85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15FA27-6155-0DCE-D2DB-E7A51E517516}"/>
              </a:ext>
            </a:extLst>
          </p:cNvPr>
          <p:cNvSpPr>
            <a:spLocks noGrp="1"/>
          </p:cNvSpPr>
          <p:nvPr>
            <p:ph type="dt" sz="half" idx="10"/>
          </p:nvPr>
        </p:nvSpPr>
        <p:spPr/>
        <p:txBody>
          <a:bodyPr/>
          <a:lstStyle/>
          <a:p>
            <a:r>
              <a:rPr lang="en-US"/>
              <a:t>9/30/2025</a:t>
            </a:r>
          </a:p>
        </p:txBody>
      </p:sp>
      <p:sp>
        <p:nvSpPr>
          <p:cNvPr id="8" name="Footer Placeholder 7">
            <a:extLst>
              <a:ext uri="{FF2B5EF4-FFF2-40B4-BE49-F238E27FC236}">
                <a16:creationId xmlns:a16="http://schemas.microsoft.com/office/drawing/2014/main" id="{CF5D1B5F-9F13-EB84-D684-A1CFB8F4E735}"/>
              </a:ext>
            </a:extLst>
          </p:cNvPr>
          <p:cNvSpPr>
            <a:spLocks noGrp="1"/>
          </p:cNvSpPr>
          <p:nvPr>
            <p:ph type="ftr" sz="quarter" idx="11"/>
          </p:nvPr>
        </p:nvSpPr>
        <p:spPr/>
        <p:txBody>
          <a:bodyPr/>
          <a:lstStyle/>
          <a:p>
            <a:r>
              <a:rPr lang="en-US"/>
              <a:t>DASC 41103 – Project 1 – Group 29</a:t>
            </a:r>
          </a:p>
        </p:txBody>
      </p:sp>
      <p:sp>
        <p:nvSpPr>
          <p:cNvPr id="9" name="Slide Number Placeholder 8">
            <a:extLst>
              <a:ext uri="{FF2B5EF4-FFF2-40B4-BE49-F238E27FC236}">
                <a16:creationId xmlns:a16="http://schemas.microsoft.com/office/drawing/2014/main" id="{70FA2D21-51D5-0691-7C78-C45FE625B155}"/>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987065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9D440-A389-97A7-0462-961365CAEF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32165A-46A9-FED3-E87E-C1613E3684A9}"/>
              </a:ext>
            </a:extLst>
          </p:cNvPr>
          <p:cNvSpPr>
            <a:spLocks noGrp="1"/>
          </p:cNvSpPr>
          <p:nvPr>
            <p:ph type="dt" sz="half" idx="10"/>
          </p:nvPr>
        </p:nvSpPr>
        <p:spPr/>
        <p:txBody>
          <a:bodyPr/>
          <a:lstStyle/>
          <a:p>
            <a:r>
              <a:rPr lang="en-US"/>
              <a:t>9/30/2025</a:t>
            </a:r>
          </a:p>
        </p:txBody>
      </p:sp>
      <p:sp>
        <p:nvSpPr>
          <p:cNvPr id="4" name="Footer Placeholder 3">
            <a:extLst>
              <a:ext uri="{FF2B5EF4-FFF2-40B4-BE49-F238E27FC236}">
                <a16:creationId xmlns:a16="http://schemas.microsoft.com/office/drawing/2014/main" id="{1D0E0ECD-11E2-667C-91BC-D8A1FA871FFB}"/>
              </a:ext>
            </a:extLst>
          </p:cNvPr>
          <p:cNvSpPr>
            <a:spLocks noGrp="1"/>
          </p:cNvSpPr>
          <p:nvPr>
            <p:ph type="ftr" sz="quarter" idx="11"/>
          </p:nvPr>
        </p:nvSpPr>
        <p:spPr/>
        <p:txBody>
          <a:bodyPr/>
          <a:lstStyle/>
          <a:p>
            <a:r>
              <a:rPr lang="en-US"/>
              <a:t>DASC 41103 – Project 1 – Group 29</a:t>
            </a:r>
          </a:p>
        </p:txBody>
      </p:sp>
      <p:sp>
        <p:nvSpPr>
          <p:cNvPr id="5" name="Slide Number Placeholder 4">
            <a:extLst>
              <a:ext uri="{FF2B5EF4-FFF2-40B4-BE49-F238E27FC236}">
                <a16:creationId xmlns:a16="http://schemas.microsoft.com/office/drawing/2014/main" id="{B625D9CB-42F9-56E7-41E6-2E6FE6708991}"/>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2952930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D7CF26-F05E-915E-FB6A-C64864800A11}"/>
              </a:ext>
            </a:extLst>
          </p:cNvPr>
          <p:cNvSpPr>
            <a:spLocks noGrp="1"/>
          </p:cNvSpPr>
          <p:nvPr>
            <p:ph type="dt" sz="half" idx="10"/>
          </p:nvPr>
        </p:nvSpPr>
        <p:spPr/>
        <p:txBody>
          <a:bodyPr/>
          <a:lstStyle/>
          <a:p>
            <a:r>
              <a:rPr lang="en-US"/>
              <a:t>9/30/2025</a:t>
            </a:r>
          </a:p>
        </p:txBody>
      </p:sp>
      <p:sp>
        <p:nvSpPr>
          <p:cNvPr id="3" name="Footer Placeholder 2">
            <a:extLst>
              <a:ext uri="{FF2B5EF4-FFF2-40B4-BE49-F238E27FC236}">
                <a16:creationId xmlns:a16="http://schemas.microsoft.com/office/drawing/2014/main" id="{48609C58-73D9-022D-0886-2C0C3BC58AA7}"/>
              </a:ext>
            </a:extLst>
          </p:cNvPr>
          <p:cNvSpPr>
            <a:spLocks noGrp="1"/>
          </p:cNvSpPr>
          <p:nvPr>
            <p:ph type="ftr" sz="quarter" idx="11"/>
          </p:nvPr>
        </p:nvSpPr>
        <p:spPr/>
        <p:txBody>
          <a:bodyPr/>
          <a:lstStyle/>
          <a:p>
            <a:r>
              <a:rPr lang="en-US"/>
              <a:t>DASC 41103 – Project 1 – Group 29</a:t>
            </a:r>
          </a:p>
        </p:txBody>
      </p:sp>
      <p:sp>
        <p:nvSpPr>
          <p:cNvPr id="4" name="Slide Number Placeholder 3">
            <a:extLst>
              <a:ext uri="{FF2B5EF4-FFF2-40B4-BE49-F238E27FC236}">
                <a16:creationId xmlns:a16="http://schemas.microsoft.com/office/drawing/2014/main" id="{09AA4B4C-F954-B9FE-0B7B-711F99EE8542}"/>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2780517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58122-B3D3-241A-9EBB-6A75E4ECAA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92F4FD-7809-53D2-5C42-045C97F6B0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8304-0212-4305-0FD2-B52A05BC35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E1F2F-0575-9749-254A-BE570AED3FA1}"/>
              </a:ext>
            </a:extLst>
          </p:cNvPr>
          <p:cNvSpPr>
            <a:spLocks noGrp="1"/>
          </p:cNvSpPr>
          <p:nvPr>
            <p:ph type="dt" sz="half" idx="10"/>
          </p:nvPr>
        </p:nvSpPr>
        <p:spPr/>
        <p:txBody>
          <a:bodyPr/>
          <a:lstStyle/>
          <a:p>
            <a:r>
              <a:rPr lang="en-US"/>
              <a:t>9/30/2025</a:t>
            </a:r>
          </a:p>
        </p:txBody>
      </p:sp>
      <p:sp>
        <p:nvSpPr>
          <p:cNvPr id="6" name="Footer Placeholder 5">
            <a:extLst>
              <a:ext uri="{FF2B5EF4-FFF2-40B4-BE49-F238E27FC236}">
                <a16:creationId xmlns:a16="http://schemas.microsoft.com/office/drawing/2014/main" id="{6EB06B33-DC35-9CFE-72B1-ED70AD178A54}"/>
              </a:ext>
            </a:extLst>
          </p:cNvPr>
          <p:cNvSpPr>
            <a:spLocks noGrp="1"/>
          </p:cNvSpPr>
          <p:nvPr>
            <p:ph type="ftr" sz="quarter" idx="11"/>
          </p:nvPr>
        </p:nvSpPr>
        <p:spPr/>
        <p:txBody>
          <a:bodyPr/>
          <a:lstStyle/>
          <a:p>
            <a:r>
              <a:rPr lang="en-US"/>
              <a:t>DASC 41103 – Project 1 – Group 29</a:t>
            </a:r>
          </a:p>
        </p:txBody>
      </p:sp>
      <p:sp>
        <p:nvSpPr>
          <p:cNvPr id="7" name="Slide Number Placeholder 6">
            <a:extLst>
              <a:ext uri="{FF2B5EF4-FFF2-40B4-BE49-F238E27FC236}">
                <a16:creationId xmlns:a16="http://schemas.microsoft.com/office/drawing/2014/main" id="{F525F08D-2948-9DAA-37AD-662A98EFA70A}"/>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1936434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1C9E-289F-CC3F-90B6-C3533888A7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6796C4-58E1-FFD9-1E8E-F0A30CB0F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E07E1D-ED24-B602-CC2A-87972117AE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42C01A-088C-15BE-61FF-6E46955DE8C9}"/>
              </a:ext>
            </a:extLst>
          </p:cNvPr>
          <p:cNvSpPr>
            <a:spLocks noGrp="1"/>
          </p:cNvSpPr>
          <p:nvPr>
            <p:ph type="dt" sz="half" idx="10"/>
          </p:nvPr>
        </p:nvSpPr>
        <p:spPr/>
        <p:txBody>
          <a:bodyPr/>
          <a:lstStyle/>
          <a:p>
            <a:r>
              <a:rPr lang="en-US"/>
              <a:t>9/30/2025</a:t>
            </a:r>
          </a:p>
        </p:txBody>
      </p:sp>
      <p:sp>
        <p:nvSpPr>
          <p:cNvPr id="6" name="Footer Placeholder 5">
            <a:extLst>
              <a:ext uri="{FF2B5EF4-FFF2-40B4-BE49-F238E27FC236}">
                <a16:creationId xmlns:a16="http://schemas.microsoft.com/office/drawing/2014/main" id="{35041E34-25F9-61E0-9664-249542A49744}"/>
              </a:ext>
            </a:extLst>
          </p:cNvPr>
          <p:cNvSpPr>
            <a:spLocks noGrp="1"/>
          </p:cNvSpPr>
          <p:nvPr>
            <p:ph type="ftr" sz="quarter" idx="11"/>
          </p:nvPr>
        </p:nvSpPr>
        <p:spPr/>
        <p:txBody>
          <a:bodyPr/>
          <a:lstStyle/>
          <a:p>
            <a:r>
              <a:rPr lang="en-US"/>
              <a:t>DASC 41103 – Project 1 – Group 29</a:t>
            </a:r>
          </a:p>
        </p:txBody>
      </p:sp>
      <p:sp>
        <p:nvSpPr>
          <p:cNvPr id="7" name="Slide Number Placeholder 6">
            <a:extLst>
              <a:ext uri="{FF2B5EF4-FFF2-40B4-BE49-F238E27FC236}">
                <a16:creationId xmlns:a16="http://schemas.microsoft.com/office/drawing/2014/main" id="{7B2427F3-5652-39F0-0ADC-7ED67645D2F4}"/>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2885960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71599-7B48-EC53-EEF2-1D6E84ED8D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02A173-2428-DA02-FCF8-DD71C48E39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4AB081-BFB8-7EC8-A91E-473A35A8995D}"/>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93411870-EB3E-6B6D-34B8-E2452703E2DD}"/>
              </a:ext>
            </a:extLst>
          </p:cNvPr>
          <p:cNvSpPr>
            <a:spLocks noGrp="1"/>
          </p:cNvSpPr>
          <p:nvPr>
            <p:ph type="ftr" sz="quarter" idx="11"/>
          </p:nvPr>
        </p:nvSpPr>
        <p:spPr/>
        <p:txBody>
          <a:bodyPr/>
          <a:lstStyle/>
          <a:p>
            <a:r>
              <a:rPr lang="en-US"/>
              <a:t>DASC 41103 – Project 1 – Group 29</a:t>
            </a:r>
          </a:p>
        </p:txBody>
      </p:sp>
      <p:sp>
        <p:nvSpPr>
          <p:cNvPr id="6" name="Slide Number Placeholder 5">
            <a:extLst>
              <a:ext uri="{FF2B5EF4-FFF2-40B4-BE49-F238E27FC236}">
                <a16:creationId xmlns:a16="http://schemas.microsoft.com/office/drawing/2014/main" id="{38542639-7902-94FF-5DFC-6AD6B435BF05}"/>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2870265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9D01F2-DEAA-389E-C16E-781ADFD5BD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09EB78-D3C6-34ED-900E-4A57FD06D0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A99267-CA1F-31F1-19E8-95FDAD8D180D}"/>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E307F77B-28BF-8AFC-ADC9-D7A3C4DE8DB5}"/>
              </a:ext>
            </a:extLst>
          </p:cNvPr>
          <p:cNvSpPr>
            <a:spLocks noGrp="1"/>
          </p:cNvSpPr>
          <p:nvPr>
            <p:ph type="ftr" sz="quarter" idx="11"/>
          </p:nvPr>
        </p:nvSpPr>
        <p:spPr/>
        <p:txBody>
          <a:bodyPr/>
          <a:lstStyle/>
          <a:p>
            <a:r>
              <a:rPr lang="en-US"/>
              <a:t>DASC 41103 – Project 1 – Group 29</a:t>
            </a:r>
          </a:p>
        </p:txBody>
      </p:sp>
      <p:sp>
        <p:nvSpPr>
          <p:cNvPr id="6" name="Slide Number Placeholder 5">
            <a:extLst>
              <a:ext uri="{FF2B5EF4-FFF2-40B4-BE49-F238E27FC236}">
                <a16:creationId xmlns:a16="http://schemas.microsoft.com/office/drawing/2014/main" id="{CEE30A26-CDDB-CB60-2A4B-8F784462AF9F}"/>
              </a:ext>
            </a:extLst>
          </p:cNvPr>
          <p:cNvSpPr>
            <a:spLocks noGrp="1"/>
          </p:cNvSpPr>
          <p:nvPr>
            <p:ph type="sldNum" sz="quarter" idx="12"/>
          </p:nvPr>
        </p:nvSpPr>
        <p:spPr/>
        <p:txBody>
          <a:bodyPr/>
          <a:lstStyle/>
          <a:p>
            <a:fld id="{DCF23350-8DE6-43BA-AB8D-52012CF932EA}" type="slidenum">
              <a:rPr lang="en-US" smtClean="0"/>
              <a:t>‹#›</a:t>
            </a:fld>
            <a:endParaRPr lang="en-US"/>
          </a:p>
        </p:txBody>
      </p:sp>
    </p:spTree>
    <p:extLst>
      <p:ext uri="{BB962C8B-B14F-4D97-AF65-F5344CB8AC3E}">
        <p14:creationId xmlns:p14="http://schemas.microsoft.com/office/powerpoint/2010/main" val="3750162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CA220F-064B-CC16-4E1B-7AF73B77ED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D819F2-D6D5-F4A3-B316-38CCE52337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5A8E87-591A-734A-7890-7ED419134C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9/30/2025</a:t>
            </a:r>
          </a:p>
        </p:txBody>
      </p:sp>
      <p:sp>
        <p:nvSpPr>
          <p:cNvPr id="5" name="Footer Placeholder 4">
            <a:extLst>
              <a:ext uri="{FF2B5EF4-FFF2-40B4-BE49-F238E27FC236}">
                <a16:creationId xmlns:a16="http://schemas.microsoft.com/office/drawing/2014/main" id="{0FEFF9AF-3722-6AF4-A532-1D632E7C1C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DASC 41103 – Project 1 – Group 29</a:t>
            </a:r>
          </a:p>
        </p:txBody>
      </p:sp>
      <p:sp>
        <p:nvSpPr>
          <p:cNvPr id="6" name="Slide Number Placeholder 5">
            <a:extLst>
              <a:ext uri="{FF2B5EF4-FFF2-40B4-BE49-F238E27FC236}">
                <a16:creationId xmlns:a16="http://schemas.microsoft.com/office/drawing/2014/main" id="{DEE98928-EFB3-31F0-2C1D-AA98CF870F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F23350-8DE6-43BA-AB8D-52012CF932EA}" type="slidenum">
              <a:rPr lang="en-US" smtClean="0"/>
              <a:t>‹#›</a:t>
            </a:fld>
            <a:endParaRPr lang="en-US"/>
          </a:p>
        </p:txBody>
      </p:sp>
    </p:spTree>
    <p:extLst>
      <p:ext uri="{BB962C8B-B14F-4D97-AF65-F5344CB8AC3E}">
        <p14:creationId xmlns:p14="http://schemas.microsoft.com/office/powerpoint/2010/main" val="424781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AB1F5-889C-5DD8-5C61-430B8B54544D}"/>
              </a:ext>
            </a:extLst>
          </p:cNvPr>
          <p:cNvSpPr>
            <a:spLocks noGrp="1"/>
          </p:cNvSpPr>
          <p:nvPr>
            <p:ph type="ctrTitle"/>
          </p:nvPr>
        </p:nvSpPr>
        <p:spPr>
          <a:xfrm>
            <a:off x="0" y="1788634"/>
            <a:ext cx="12192000" cy="2387600"/>
          </a:xfrm>
        </p:spPr>
        <p:txBody>
          <a:bodyPr anchor="ctr">
            <a:normAutofit/>
          </a:bodyPr>
          <a:lstStyle/>
          <a:p>
            <a:r>
              <a:rPr lang="en-US" sz="4400"/>
              <a:t>Machine Learning</a:t>
            </a:r>
            <a:br>
              <a:rPr lang="en-US" sz="4400"/>
            </a:br>
            <a:r>
              <a:rPr lang="en-US" sz="4400"/>
              <a:t>Applying MLP</a:t>
            </a:r>
          </a:p>
        </p:txBody>
      </p:sp>
      <p:sp>
        <p:nvSpPr>
          <p:cNvPr id="3" name="Subtitle 2">
            <a:extLst>
              <a:ext uri="{FF2B5EF4-FFF2-40B4-BE49-F238E27FC236}">
                <a16:creationId xmlns:a16="http://schemas.microsoft.com/office/drawing/2014/main" id="{F4E51719-0EEC-0B83-FE55-383AEC6E3967}"/>
              </a:ext>
            </a:extLst>
          </p:cNvPr>
          <p:cNvSpPr>
            <a:spLocks noGrp="1"/>
          </p:cNvSpPr>
          <p:nvPr>
            <p:ph type="subTitle" idx="1"/>
          </p:nvPr>
        </p:nvSpPr>
        <p:spPr>
          <a:xfrm>
            <a:off x="1524000" y="3719034"/>
            <a:ext cx="9144000" cy="914400"/>
          </a:xfrm>
        </p:spPr>
        <p:txBody>
          <a:bodyPr anchor="ctr"/>
          <a:lstStyle/>
          <a:p>
            <a:r>
              <a:rPr lang="en-US"/>
              <a:t>Ruth Walters and Addison Wilson</a:t>
            </a:r>
          </a:p>
        </p:txBody>
      </p:sp>
      <p:sp>
        <p:nvSpPr>
          <p:cNvPr id="4" name="Date Placeholder 3">
            <a:extLst>
              <a:ext uri="{FF2B5EF4-FFF2-40B4-BE49-F238E27FC236}">
                <a16:creationId xmlns:a16="http://schemas.microsoft.com/office/drawing/2014/main" id="{C56855F3-7417-B761-31D8-DDD92C50566B}"/>
              </a:ext>
            </a:extLst>
          </p:cNvPr>
          <p:cNvSpPr>
            <a:spLocks noGrp="1"/>
          </p:cNvSpPr>
          <p:nvPr>
            <p:ph type="dt" sz="half" idx="10"/>
          </p:nvPr>
        </p:nvSpPr>
        <p:spPr/>
        <p:txBody>
          <a:bodyPr/>
          <a:lstStyle/>
          <a:p>
            <a:r>
              <a:rPr lang="en-US"/>
              <a:t>11/6/2025</a:t>
            </a:r>
          </a:p>
        </p:txBody>
      </p:sp>
      <p:sp>
        <p:nvSpPr>
          <p:cNvPr id="5" name="Footer Placeholder 4">
            <a:extLst>
              <a:ext uri="{FF2B5EF4-FFF2-40B4-BE49-F238E27FC236}">
                <a16:creationId xmlns:a16="http://schemas.microsoft.com/office/drawing/2014/main" id="{D7FA7FF8-3C88-6547-CE7D-5094FF5151F3}"/>
              </a:ext>
            </a:extLst>
          </p:cNvPr>
          <p:cNvSpPr>
            <a:spLocks noGrp="1"/>
          </p:cNvSpPr>
          <p:nvPr>
            <p:ph type="ftr" sz="quarter" idx="11"/>
          </p:nvPr>
        </p:nvSpPr>
        <p:spPr/>
        <p:txBody>
          <a:bodyPr/>
          <a:lstStyle/>
          <a:p>
            <a:r>
              <a:rPr lang="en-US"/>
              <a:t>DASC 41103 – Project 2 – Group 29</a:t>
            </a:r>
          </a:p>
        </p:txBody>
      </p:sp>
    </p:spTree>
    <p:extLst>
      <p:ext uri="{BB962C8B-B14F-4D97-AF65-F5344CB8AC3E}">
        <p14:creationId xmlns:p14="http://schemas.microsoft.com/office/powerpoint/2010/main" val="2935026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28551-A290-2011-D132-7B56E9A38C8E}"/>
              </a:ext>
            </a:extLst>
          </p:cNvPr>
          <p:cNvSpPr>
            <a:spLocks noGrp="1"/>
          </p:cNvSpPr>
          <p:nvPr>
            <p:ph type="title"/>
          </p:nvPr>
        </p:nvSpPr>
        <p:spPr/>
        <p:txBody>
          <a:bodyPr/>
          <a:lstStyle/>
          <a:p>
            <a:r>
              <a:rPr lang="en-US"/>
              <a:t>Workflow</a:t>
            </a:r>
          </a:p>
        </p:txBody>
      </p:sp>
      <p:sp>
        <p:nvSpPr>
          <p:cNvPr id="4" name="Date Placeholder 3">
            <a:extLst>
              <a:ext uri="{FF2B5EF4-FFF2-40B4-BE49-F238E27FC236}">
                <a16:creationId xmlns:a16="http://schemas.microsoft.com/office/drawing/2014/main" id="{EF73F83A-9A91-C279-04F6-1B9F41256FB8}"/>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71FBEC78-7889-8365-6F49-4665112F1C4E}"/>
              </a:ext>
            </a:extLst>
          </p:cNvPr>
          <p:cNvSpPr>
            <a:spLocks noGrp="1"/>
          </p:cNvSpPr>
          <p:nvPr>
            <p:ph type="ftr" sz="quarter" idx="11"/>
          </p:nvPr>
        </p:nvSpPr>
        <p:spPr/>
        <p:txBody>
          <a:bodyPr/>
          <a:lstStyle/>
          <a:p>
            <a:r>
              <a:rPr lang="en-US"/>
              <a:t>DASC 41103 – Project 1 – Group 29</a:t>
            </a:r>
          </a:p>
        </p:txBody>
      </p:sp>
      <p:sp>
        <p:nvSpPr>
          <p:cNvPr id="15" name="TextBox 14">
            <a:extLst>
              <a:ext uri="{FF2B5EF4-FFF2-40B4-BE49-F238E27FC236}">
                <a16:creationId xmlns:a16="http://schemas.microsoft.com/office/drawing/2014/main" id="{358BA3B7-A71E-A81C-BF57-D5A53781DA8C}"/>
              </a:ext>
            </a:extLst>
          </p:cNvPr>
          <p:cNvSpPr txBox="1"/>
          <p:nvPr/>
        </p:nvSpPr>
        <p:spPr>
          <a:xfrm>
            <a:off x="838200" y="1825625"/>
            <a:ext cx="10515600" cy="2308324"/>
          </a:xfrm>
          <a:prstGeom prst="rect">
            <a:avLst/>
          </a:prstGeom>
          <a:noFill/>
        </p:spPr>
        <p:txBody>
          <a:bodyPr wrap="square" rtlCol="0">
            <a:spAutoFit/>
          </a:bodyPr>
          <a:lstStyle/>
          <a:p>
            <a:pPr marL="285750" indent="-285750">
              <a:buFont typeface="Arial" panose="020B0604020202020204" pitchFamily="34" charset="0"/>
              <a:buChar char="•"/>
            </a:pPr>
            <a:r>
              <a:rPr lang="en-US" sz="2400" b="1" dirty="0"/>
              <a:t>Load &amp; preprocess dataset: </a:t>
            </a:r>
          </a:p>
          <a:p>
            <a:pPr marL="742950" lvl="1" indent="-285750">
              <a:buFont typeface="Arial" panose="020B0604020202020204" pitchFamily="34" charset="0"/>
              <a:buChar char="•"/>
            </a:pPr>
            <a:r>
              <a:rPr lang="en-US" sz="2400" dirty="0"/>
              <a:t>Pandas DataFrame</a:t>
            </a:r>
          </a:p>
          <a:p>
            <a:pPr marL="742950" lvl="1" indent="-285750">
              <a:buFont typeface="Arial" panose="020B0604020202020204" pitchFamily="34" charset="0"/>
              <a:buChar char="•"/>
            </a:pPr>
            <a:r>
              <a:rPr lang="en-US" sz="2400" dirty="0"/>
              <a:t>NULL/NA handling</a:t>
            </a:r>
          </a:p>
          <a:p>
            <a:pPr marL="742950" lvl="1" indent="-285750">
              <a:buFont typeface="Arial" panose="020B0604020202020204" pitchFamily="34" charset="0"/>
              <a:buChar char="•"/>
            </a:pPr>
            <a:r>
              <a:rPr lang="en-US" sz="2400" dirty="0"/>
              <a:t>One hot encoding of categorical features</a:t>
            </a:r>
          </a:p>
          <a:p>
            <a:pPr marL="742950" lvl="1" indent="-285750">
              <a:buFont typeface="Arial" panose="020B0604020202020204" pitchFamily="34" charset="0"/>
              <a:buChar char="•"/>
            </a:pPr>
            <a:r>
              <a:rPr lang="en-US" sz="2400" dirty="0"/>
              <a:t>Scaling numeric features</a:t>
            </a:r>
          </a:p>
          <a:p>
            <a:pPr marL="742950" lvl="1" indent="-285750">
              <a:buFont typeface="Arial" panose="020B0604020202020204" pitchFamily="34" charset="0"/>
              <a:buChar char="•"/>
            </a:pPr>
            <a:r>
              <a:rPr lang="en-US" sz="2400" dirty="0"/>
              <a:t>Stratification to ensure</a:t>
            </a:r>
          </a:p>
        </p:txBody>
      </p:sp>
    </p:spTree>
    <p:extLst>
      <p:ext uri="{BB962C8B-B14F-4D97-AF65-F5344CB8AC3E}">
        <p14:creationId xmlns:p14="http://schemas.microsoft.com/office/powerpoint/2010/main" val="3036662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A59AF-6828-0768-F53F-46B576257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BA232-D654-9E64-6D52-F0AEC0844410}"/>
              </a:ext>
            </a:extLst>
          </p:cNvPr>
          <p:cNvSpPr>
            <a:spLocks noGrp="1"/>
          </p:cNvSpPr>
          <p:nvPr>
            <p:ph type="title"/>
          </p:nvPr>
        </p:nvSpPr>
        <p:spPr/>
        <p:txBody>
          <a:bodyPr/>
          <a:lstStyle/>
          <a:p>
            <a:r>
              <a:rPr lang="en-US"/>
              <a:t>Workflow</a:t>
            </a:r>
          </a:p>
        </p:txBody>
      </p:sp>
      <p:sp>
        <p:nvSpPr>
          <p:cNvPr id="4" name="Date Placeholder 3">
            <a:extLst>
              <a:ext uri="{FF2B5EF4-FFF2-40B4-BE49-F238E27FC236}">
                <a16:creationId xmlns:a16="http://schemas.microsoft.com/office/drawing/2014/main" id="{2223B543-B58B-88A2-EBFA-A684B0B739CA}"/>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326B02CF-0823-51E9-06A0-F993D126FBB4}"/>
              </a:ext>
            </a:extLst>
          </p:cNvPr>
          <p:cNvSpPr>
            <a:spLocks noGrp="1"/>
          </p:cNvSpPr>
          <p:nvPr>
            <p:ph type="ftr" sz="quarter" idx="11"/>
          </p:nvPr>
        </p:nvSpPr>
        <p:spPr/>
        <p:txBody>
          <a:bodyPr/>
          <a:lstStyle/>
          <a:p>
            <a:r>
              <a:rPr lang="en-US"/>
              <a:t>DASC 41103 – Project 1 – Group 29</a:t>
            </a:r>
          </a:p>
        </p:txBody>
      </p:sp>
      <p:sp>
        <p:nvSpPr>
          <p:cNvPr id="15" name="TextBox 14">
            <a:extLst>
              <a:ext uri="{FF2B5EF4-FFF2-40B4-BE49-F238E27FC236}">
                <a16:creationId xmlns:a16="http://schemas.microsoft.com/office/drawing/2014/main" id="{FA07830F-9E41-1913-5DDB-C5296E98D423}"/>
              </a:ext>
            </a:extLst>
          </p:cNvPr>
          <p:cNvSpPr txBox="1"/>
          <p:nvPr/>
        </p:nvSpPr>
        <p:spPr>
          <a:xfrm>
            <a:off x="838200" y="1825625"/>
            <a:ext cx="10515600" cy="1938992"/>
          </a:xfrm>
          <a:prstGeom prst="rect">
            <a:avLst/>
          </a:prstGeom>
          <a:noFill/>
        </p:spPr>
        <p:txBody>
          <a:bodyPr wrap="square" rtlCol="0">
            <a:spAutoFit/>
          </a:bodyPr>
          <a:lstStyle/>
          <a:p>
            <a:pPr marL="285750" indent="-285750">
              <a:buFont typeface="Arial" panose="020B0604020202020204" pitchFamily="34" charset="0"/>
              <a:buChar char="•"/>
            </a:pPr>
            <a:r>
              <a:rPr lang="en-US" sz="2400" b="1" dirty="0"/>
              <a:t>Train &amp; test multiple MLP candidates: </a:t>
            </a:r>
            <a:r>
              <a:rPr lang="en-US" sz="2400" dirty="0"/>
              <a:t>different architectures, activations, learning rates</a:t>
            </a:r>
          </a:p>
          <a:p>
            <a:pPr marL="285750" indent="-285750">
              <a:buFont typeface="Arial" panose="020B0604020202020204" pitchFamily="34" charset="0"/>
              <a:buChar char="•"/>
            </a:pPr>
            <a:r>
              <a:rPr lang="en-US" sz="2400" b="1" dirty="0"/>
              <a:t>Evaluate models: </a:t>
            </a:r>
            <a:r>
              <a:rPr lang="en-US" sz="2400" dirty="0"/>
              <a:t>accuracy, loss curves, confusion matrices</a:t>
            </a:r>
          </a:p>
          <a:p>
            <a:pPr marL="285750" indent="-285750">
              <a:buFont typeface="Arial" panose="020B0604020202020204" pitchFamily="34" charset="0"/>
              <a:buChar char="•"/>
            </a:pPr>
            <a:r>
              <a:rPr lang="en-US" sz="2400" b="1" dirty="0"/>
              <a:t>Select best model: </a:t>
            </a:r>
            <a:r>
              <a:rPr lang="en-US" sz="2400" dirty="0"/>
              <a:t>based on validation performance</a:t>
            </a:r>
          </a:p>
          <a:p>
            <a:pPr marL="285750" indent="-285750">
              <a:buFont typeface="Arial" panose="020B0604020202020204" pitchFamily="34" charset="0"/>
              <a:buChar char="•"/>
            </a:pPr>
            <a:r>
              <a:rPr lang="en-US" sz="2400" b="1" dirty="0"/>
              <a:t>Predict validation inputs: </a:t>
            </a:r>
            <a:r>
              <a:rPr lang="en-US" sz="2400" dirty="0"/>
              <a:t>output transformed to 1 / –1</a:t>
            </a:r>
          </a:p>
        </p:txBody>
      </p:sp>
    </p:spTree>
    <p:extLst>
      <p:ext uri="{BB962C8B-B14F-4D97-AF65-F5344CB8AC3E}">
        <p14:creationId xmlns:p14="http://schemas.microsoft.com/office/powerpoint/2010/main" val="2376452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DF6B56-ED92-0C30-8E51-9CD649A13ABB}"/>
              </a:ext>
            </a:extLst>
          </p:cNvPr>
          <p:cNvSpPr/>
          <p:nvPr/>
        </p:nvSpPr>
        <p:spPr>
          <a:xfrm>
            <a:off x="-1830" y="-1831"/>
            <a:ext cx="12230745" cy="16273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EA7491-694D-24F7-4732-8D831A0D9B1E}"/>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3400">
                <a:solidFill>
                  <a:srgbClr val="FFFFFF"/>
                </a:solidFill>
              </a:rPr>
              <a:t>Model Development – Baseline Model</a:t>
            </a:r>
          </a:p>
        </p:txBody>
      </p:sp>
      <p:sp>
        <p:nvSpPr>
          <p:cNvPr id="3" name="Content Placeholder 2">
            <a:extLst>
              <a:ext uri="{FF2B5EF4-FFF2-40B4-BE49-F238E27FC236}">
                <a16:creationId xmlns:a16="http://schemas.microsoft.com/office/drawing/2014/main" id="{322C4896-7210-A13F-F022-4D500A743066}"/>
              </a:ext>
            </a:extLst>
          </p:cNvPr>
          <p:cNvSpPr>
            <a:spLocks noGrp="1"/>
          </p:cNvSpPr>
          <p:nvPr>
            <p:ph idx="1"/>
          </p:nvPr>
        </p:nvSpPr>
        <p:spPr>
          <a:xfrm>
            <a:off x="8571507" y="387224"/>
            <a:ext cx="3291839" cy="830453"/>
          </a:xfrm>
        </p:spPr>
        <p:txBody>
          <a:bodyPr vert="horz" lIns="91440" tIns="45720" rIns="91440" bIns="45720" rtlCol="0" anchor="ctr">
            <a:normAutofit lnSpcReduction="10000"/>
          </a:bodyPr>
          <a:lstStyle/>
          <a:p>
            <a:pPr marL="0" indent="0">
              <a:buNone/>
            </a:pPr>
            <a:r>
              <a:rPr lang="en-US" i="1">
                <a:solidFill>
                  <a:srgbClr val="FFFFFF"/>
                </a:solidFill>
              </a:rPr>
              <a:t>Test Accuracy: 83.16%</a:t>
            </a:r>
          </a:p>
        </p:txBody>
      </p:sp>
      <p:pic>
        <p:nvPicPr>
          <p:cNvPr id="7" name="Picture 6">
            <a:extLst>
              <a:ext uri="{FF2B5EF4-FFF2-40B4-BE49-F238E27FC236}">
                <a16:creationId xmlns:a16="http://schemas.microsoft.com/office/drawing/2014/main" id="{5FD61531-9698-C432-445B-40C4EF560FA0}"/>
              </a:ext>
            </a:extLst>
          </p:cNvPr>
          <p:cNvPicPr>
            <a:picLocks noChangeAspect="1"/>
          </p:cNvPicPr>
          <p:nvPr/>
        </p:nvPicPr>
        <p:blipFill>
          <a:blip r:embed="rId3"/>
          <a:stretch>
            <a:fillRect/>
          </a:stretch>
        </p:blipFill>
        <p:spPr>
          <a:xfrm>
            <a:off x="849790" y="2181426"/>
            <a:ext cx="4997046" cy="3997637"/>
          </a:xfrm>
          <a:prstGeom prst="rect">
            <a:avLst/>
          </a:prstGeom>
        </p:spPr>
      </p:pic>
      <p:pic>
        <p:nvPicPr>
          <p:cNvPr id="6" name="Picture 5">
            <a:extLst>
              <a:ext uri="{FF2B5EF4-FFF2-40B4-BE49-F238E27FC236}">
                <a16:creationId xmlns:a16="http://schemas.microsoft.com/office/drawing/2014/main" id="{68785686-8DB8-3156-A7FC-1859F96D0F16}"/>
              </a:ext>
            </a:extLst>
          </p:cNvPr>
          <p:cNvPicPr>
            <a:picLocks noChangeAspect="1"/>
          </p:cNvPicPr>
          <p:nvPr/>
        </p:nvPicPr>
        <p:blipFill>
          <a:blip r:embed="rId4"/>
          <a:stretch>
            <a:fillRect/>
          </a:stretch>
        </p:blipFill>
        <p:spPr>
          <a:xfrm>
            <a:off x="6345165" y="2217815"/>
            <a:ext cx="4920407" cy="3997831"/>
          </a:xfrm>
          <a:prstGeom prst="rect">
            <a:avLst/>
          </a:prstGeom>
        </p:spPr>
      </p:pic>
      <p:sp>
        <p:nvSpPr>
          <p:cNvPr id="4" name="Date Placeholder 3">
            <a:extLst>
              <a:ext uri="{FF2B5EF4-FFF2-40B4-BE49-F238E27FC236}">
                <a16:creationId xmlns:a16="http://schemas.microsoft.com/office/drawing/2014/main" id="{0AAA27E8-A6F5-DCE5-F7F6-F577DAEA732D}"/>
              </a:ext>
            </a:extLst>
          </p:cNvPr>
          <p:cNvSpPr>
            <a:spLocks noGrp="1"/>
          </p:cNvSpPr>
          <p:nvPr>
            <p:ph type="dt" sz="half" idx="10"/>
          </p:nvPr>
        </p:nvSpPr>
        <p:spPr>
          <a:xfrm>
            <a:off x="8970264" y="6431079"/>
            <a:ext cx="2743200" cy="365125"/>
          </a:xfrm>
          <a:noFill/>
        </p:spPr>
        <p:txBody>
          <a:bodyPr vert="horz" lIns="91440" tIns="45720" rIns="91440" bIns="45720" rtlCol="0" anchor="ctr">
            <a:normAutofit/>
          </a:bodyPr>
          <a:lstStyle/>
          <a:p>
            <a:pPr algn="r">
              <a:spcAft>
                <a:spcPts val="600"/>
              </a:spcAft>
            </a:pPr>
            <a:r>
              <a:rPr lang="en-US" sz="1100">
                <a:solidFill>
                  <a:schemeClr val="tx1">
                    <a:lumMod val="50000"/>
                    <a:lumOff val="50000"/>
                  </a:schemeClr>
                </a:solidFill>
              </a:rPr>
              <a:t>9/30/2025</a:t>
            </a:r>
          </a:p>
        </p:txBody>
      </p:sp>
    </p:spTree>
    <p:extLst>
      <p:ext uri="{BB962C8B-B14F-4D97-AF65-F5344CB8AC3E}">
        <p14:creationId xmlns:p14="http://schemas.microsoft.com/office/powerpoint/2010/main" val="1613905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1AF15-7E8C-1AFB-B630-3C6631010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02BAC-505A-03CE-92B1-4AF1AC3954EB}"/>
              </a:ext>
            </a:extLst>
          </p:cNvPr>
          <p:cNvSpPr>
            <a:spLocks noGrp="1"/>
          </p:cNvSpPr>
          <p:nvPr>
            <p:ph type="title"/>
          </p:nvPr>
        </p:nvSpPr>
        <p:spPr/>
        <p:txBody>
          <a:bodyPr/>
          <a:lstStyle/>
          <a:p>
            <a:r>
              <a:rPr lang="en-US"/>
              <a:t>Model Development</a:t>
            </a:r>
          </a:p>
        </p:txBody>
      </p:sp>
      <p:graphicFrame>
        <p:nvGraphicFramePr>
          <p:cNvPr id="6" name="Content Placeholder 5">
            <a:extLst>
              <a:ext uri="{FF2B5EF4-FFF2-40B4-BE49-F238E27FC236}">
                <a16:creationId xmlns:a16="http://schemas.microsoft.com/office/drawing/2014/main" id="{2F784A78-46EC-0F63-ED8B-922149B074F8}"/>
              </a:ext>
            </a:extLst>
          </p:cNvPr>
          <p:cNvGraphicFramePr>
            <a:graphicFrameLocks noGrp="1"/>
          </p:cNvGraphicFramePr>
          <p:nvPr>
            <p:ph idx="1"/>
          </p:nvPr>
        </p:nvGraphicFramePr>
        <p:xfrm>
          <a:off x="838200" y="2121959"/>
          <a:ext cx="10515600" cy="2225040"/>
        </p:xfrm>
        <a:graphic>
          <a:graphicData uri="http://schemas.openxmlformats.org/drawingml/2006/table">
            <a:tbl>
              <a:tblPr firstCol="1" bandRow="1">
                <a:tableStyleId>{5C22544A-7EE6-4342-B048-85BDC9FD1C3A}</a:tableStyleId>
              </a:tblPr>
              <a:tblGrid>
                <a:gridCol w="2628900">
                  <a:extLst>
                    <a:ext uri="{9D8B030D-6E8A-4147-A177-3AD203B41FA5}">
                      <a16:colId xmlns:a16="http://schemas.microsoft.com/office/drawing/2014/main" val="1584735174"/>
                    </a:ext>
                  </a:extLst>
                </a:gridCol>
                <a:gridCol w="2628900">
                  <a:extLst>
                    <a:ext uri="{9D8B030D-6E8A-4147-A177-3AD203B41FA5}">
                      <a16:colId xmlns:a16="http://schemas.microsoft.com/office/drawing/2014/main" val="4163655718"/>
                    </a:ext>
                  </a:extLst>
                </a:gridCol>
                <a:gridCol w="2628900">
                  <a:extLst>
                    <a:ext uri="{9D8B030D-6E8A-4147-A177-3AD203B41FA5}">
                      <a16:colId xmlns:a16="http://schemas.microsoft.com/office/drawing/2014/main" val="1105799220"/>
                    </a:ext>
                  </a:extLst>
                </a:gridCol>
                <a:gridCol w="2628900">
                  <a:extLst>
                    <a:ext uri="{9D8B030D-6E8A-4147-A177-3AD203B41FA5}">
                      <a16:colId xmlns:a16="http://schemas.microsoft.com/office/drawing/2014/main" val="972576446"/>
                    </a:ext>
                  </a:extLst>
                </a:gridCol>
              </a:tblGrid>
              <a:tr h="370840">
                <a:tc>
                  <a:txBody>
                    <a:bodyPr/>
                    <a:lstStyle/>
                    <a:p>
                      <a:r>
                        <a:rPr lang="en-US"/>
                        <a:t>Parameter</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07102833"/>
                  </a:ext>
                </a:extLst>
              </a:tr>
              <a:tr h="370840">
                <a:tc>
                  <a:txBody>
                    <a:bodyPr/>
                    <a:lstStyle/>
                    <a:p>
                      <a:r>
                        <a:rPr lang="en-US" b="0"/>
                        <a:t>Hidden Layer Size</a:t>
                      </a:r>
                    </a:p>
                  </a:txBody>
                  <a:tcPr/>
                </a:tc>
                <a:tc>
                  <a:txBody>
                    <a:bodyPr/>
                    <a:lstStyle/>
                    <a:p>
                      <a:r>
                        <a:rPr lang="en-US" b="1"/>
                        <a:t>(50,)</a:t>
                      </a:r>
                    </a:p>
                  </a:txBody>
                  <a:tcPr/>
                </a:tc>
                <a:tc>
                  <a:txBody>
                    <a:bodyPr/>
                    <a:lstStyle/>
                    <a:p>
                      <a:r>
                        <a:rPr lang="en-US"/>
                        <a:t>(100,)</a:t>
                      </a:r>
                    </a:p>
                  </a:txBody>
                  <a:tcPr/>
                </a:tc>
                <a:tc>
                  <a:txBody>
                    <a:bodyPr/>
                    <a:lstStyle/>
                    <a:p>
                      <a:r>
                        <a:rPr lang="en-US"/>
                        <a:t>(100,50)</a:t>
                      </a:r>
                    </a:p>
                  </a:txBody>
                  <a:tcPr/>
                </a:tc>
                <a:extLst>
                  <a:ext uri="{0D108BD9-81ED-4DB2-BD59-A6C34878D82A}">
                    <a16:rowId xmlns:a16="http://schemas.microsoft.com/office/drawing/2014/main" val="3305221520"/>
                  </a:ext>
                </a:extLst>
              </a:tr>
              <a:tr h="370840">
                <a:tc>
                  <a:txBody>
                    <a:bodyPr/>
                    <a:lstStyle/>
                    <a:p>
                      <a:r>
                        <a:rPr lang="en-US" b="0"/>
                        <a:t>Activation Function</a:t>
                      </a:r>
                    </a:p>
                  </a:txBody>
                  <a:tcPr/>
                </a:tc>
                <a:tc>
                  <a:txBody>
                    <a:bodyPr/>
                    <a:lstStyle/>
                    <a:p>
                      <a:r>
                        <a:rPr lang="en-US" b="1" err="1"/>
                        <a:t>ReLu</a:t>
                      </a:r>
                      <a:endParaRPr lang="en-US" b="1"/>
                    </a:p>
                  </a:txBody>
                  <a:tcPr/>
                </a:tc>
                <a:tc>
                  <a:txBody>
                    <a:bodyPr/>
                    <a:lstStyle/>
                    <a:p>
                      <a:r>
                        <a:rPr lang="en-US"/>
                        <a:t>tanh</a:t>
                      </a:r>
                    </a:p>
                  </a:txBody>
                  <a:tcPr/>
                </a:tc>
                <a:tc>
                  <a:txBody>
                    <a:bodyPr/>
                    <a:lstStyle/>
                    <a:p>
                      <a:endParaRPr lang="en-US"/>
                    </a:p>
                  </a:txBody>
                  <a:tcPr/>
                </a:tc>
                <a:extLst>
                  <a:ext uri="{0D108BD9-81ED-4DB2-BD59-A6C34878D82A}">
                    <a16:rowId xmlns:a16="http://schemas.microsoft.com/office/drawing/2014/main" val="2822477289"/>
                  </a:ext>
                </a:extLst>
              </a:tr>
              <a:tr h="370840">
                <a:tc>
                  <a:txBody>
                    <a:bodyPr/>
                    <a:lstStyle/>
                    <a:p>
                      <a:r>
                        <a:rPr lang="en-US" b="0"/>
                        <a:t>Solver</a:t>
                      </a:r>
                    </a:p>
                  </a:txBody>
                  <a:tcPr/>
                </a:tc>
                <a:tc>
                  <a:txBody>
                    <a:bodyPr/>
                    <a:lstStyle/>
                    <a:p>
                      <a:r>
                        <a:rPr lang="en-US"/>
                        <a:t>Adam</a:t>
                      </a:r>
                    </a:p>
                  </a:txBody>
                  <a:tcPr/>
                </a:tc>
                <a:tc>
                  <a:txBody>
                    <a:bodyPr/>
                    <a:lstStyle/>
                    <a:p>
                      <a:r>
                        <a:rPr lang="en-US" b="1"/>
                        <a:t>SGD</a:t>
                      </a:r>
                    </a:p>
                  </a:txBody>
                  <a:tcPr/>
                </a:tc>
                <a:tc>
                  <a:txBody>
                    <a:bodyPr/>
                    <a:lstStyle/>
                    <a:p>
                      <a:r>
                        <a:rPr lang="en-US" err="1"/>
                        <a:t>lbfgs</a:t>
                      </a:r>
                      <a:endParaRPr lang="en-US"/>
                    </a:p>
                  </a:txBody>
                  <a:tcPr/>
                </a:tc>
                <a:extLst>
                  <a:ext uri="{0D108BD9-81ED-4DB2-BD59-A6C34878D82A}">
                    <a16:rowId xmlns:a16="http://schemas.microsoft.com/office/drawing/2014/main" val="131071616"/>
                  </a:ext>
                </a:extLst>
              </a:tr>
              <a:tr h="370840">
                <a:tc>
                  <a:txBody>
                    <a:bodyPr/>
                    <a:lstStyle/>
                    <a:p>
                      <a:r>
                        <a:rPr lang="en-US" b="0"/>
                        <a:t>Regularization Strength</a:t>
                      </a:r>
                    </a:p>
                  </a:txBody>
                  <a:tcPr/>
                </a:tc>
                <a:tc>
                  <a:txBody>
                    <a:bodyPr/>
                    <a:lstStyle/>
                    <a:p>
                      <a:r>
                        <a:rPr lang="en-US"/>
                        <a:t>0.0001</a:t>
                      </a:r>
                    </a:p>
                  </a:txBody>
                  <a:tcPr/>
                </a:tc>
                <a:tc>
                  <a:txBody>
                    <a:bodyPr/>
                    <a:lstStyle/>
                    <a:p>
                      <a:r>
                        <a:rPr lang="en-US"/>
                        <a:t>0.001</a:t>
                      </a:r>
                    </a:p>
                  </a:txBody>
                  <a:tcPr/>
                </a:tc>
                <a:tc>
                  <a:txBody>
                    <a:bodyPr/>
                    <a:lstStyle/>
                    <a:p>
                      <a:r>
                        <a:rPr lang="en-US" b="1"/>
                        <a:t>0.01</a:t>
                      </a:r>
                    </a:p>
                  </a:txBody>
                  <a:tcPr/>
                </a:tc>
                <a:extLst>
                  <a:ext uri="{0D108BD9-81ED-4DB2-BD59-A6C34878D82A}">
                    <a16:rowId xmlns:a16="http://schemas.microsoft.com/office/drawing/2014/main" val="444245748"/>
                  </a:ext>
                </a:extLst>
              </a:tr>
              <a:tr h="370840">
                <a:tc>
                  <a:txBody>
                    <a:bodyPr/>
                    <a:lstStyle/>
                    <a:p>
                      <a:r>
                        <a:rPr lang="en-US" b="0"/>
                        <a:t>Initial Learning Rate</a:t>
                      </a:r>
                    </a:p>
                  </a:txBody>
                  <a:tcPr/>
                </a:tc>
                <a:tc>
                  <a:txBody>
                    <a:bodyPr/>
                    <a:lstStyle/>
                    <a:p>
                      <a:r>
                        <a:rPr lang="en-US"/>
                        <a:t>0.0001</a:t>
                      </a:r>
                    </a:p>
                  </a:txBody>
                  <a:tcPr/>
                </a:tc>
                <a:tc>
                  <a:txBody>
                    <a:bodyPr/>
                    <a:lstStyle/>
                    <a:p>
                      <a:r>
                        <a:rPr lang="en-US" b="1"/>
                        <a:t>0.001</a:t>
                      </a:r>
                    </a:p>
                  </a:txBody>
                  <a:tcPr/>
                </a:tc>
                <a:tc>
                  <a:txBody>
                    <a:bodyPr/>
                    <a:lstStyle/>
                    <a:p>
                      <a:r>
                        <a:rPr lang="en-US" b="0"/>
                        <a:t>0.01</a:t>
                      </a:r>
                    </a:p>
                  </a:txBody>
                  <a:tcPr/>
                </a:tc>
                <a:extLst>
                  <a:ext uri="{0D108BD9-81ED-4DB2-BD59-A6C34878D82A}">
                    <a16:rowId xmlns:a16="http://schemas.microsoft.com/office/drawing/2014/main" val="3080635188"/>
                  </a:ext>
                </a:extLst>
              </a:tr>
            </a:tbl>
          </a:graphicData>
        </a:graphic>
      </p:graphicFrame>
      <p:sp>
        <p:nvSpPr>
          <p:cNvPr id="4" name="Date Placeholder 3">
            <a:extLst>
              <a:ext uri="{FF2B5EF4-FFF2-40B4-BE49-F238E27FC236}">
                <a16:creationId xmlns:a16="http://schemas.microsoft.com/office/drawing/2014/main" id="{517C210B-13F8-1397-5F7B-933A604847D8}"/>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3213652D-7A20-673A-7858-62B023D2DCF5}"/>
              </a:ext>
            </a:extLst>
          </p:cNvPr>
          <p:cNvSpPr>
            <a:spLocks noGrp="1"/>
          </p:cNvSpPr>
          <p:nvPr>
            <p:ph type="ftr" sz="quarter" idx="11"/>
          </p:nvPr>
        </p:nvSpPr>
        <p:spPr/>
        <p:txBody>
          <a:bodyPr/>
          <a:lstStyle/>
          <a:p>
            <a:r>
              <a:rPr lang="en-US"/>
              <a:t>DASC 41103 – Project 2 – Group 29</a:t>
            </a:r>
          </a:p>
        </p:txBody>
      </p:sp>
      <p:sp>
        <p:nvSpPr>
          <p:cNvPr id="7" name="Content Placeholder 5">
            <a:extLst>
              <a:ext uri="{FF2B5EF4-FFF2-40B4-BE49-F238E27FC236}">
                <a16:creationId xmlns:a16="http://schemas.microsoft.com/office/drawing/2014/main" id="{93ECC5A5-8EA5-74BF-6CE6-EDC5CB5B0662}"/>
              </a:ext>
            </a:extLst>
          </p:cNvPr>
          <p:cNvSpPr txBox="1">
            <a:spLocks/>
          </p:cNvSpPr>
          <p:nvPr/>
        </p:nvSpPr>
        <p:spPr>
          <a:xfrm>
            <a:off x="753533" y="1673675"/>
            <a:ext cx="10515600" cy="46529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Parameter Grid:</a:t>
            </a:r>
          </a:p>
        </p:txBody>
      </p:sp>
    </p:spTree>
    <p:extLst>
      <p:ext uri="{BB962C8B-B14F-4D97-AF65-F5344CB8AC3E}">
        <p14:creationId xmlns:p14="http://schemas.microsoft.com/office/powerpoint/2010/main" val="3833483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82363-75BF-97EA-4632-33ED275FF692}"/>
              </a:ext>
            </a:extLst>
          </p:cNvPr>
          <p:cNvSpPr>
            <a:spLocks noGrp="1"/>
          </p:cNvSpPr>
          <p:nvPr>
            <p:ph type="title"/>
          </p:nvPr>
        </p:nvSpPr>
        <p:spPr/>
        <p:txBody>
          <a:bodyPr/>
          <a:lstStyle/>
          <a:p>
            <a:r>
              <a:rPr lang="en-US"/>
              <a:t>Model Development</a:t>
            </a:r>
          </a:p>
        </p:txBody>
      </p:sp>
      <p:graphicFrame>
        <p:nvGraphicFramePr>
          <p:cNvPr id="6" name="Content Placeholder 5">
            <a:extLst>
              <a:ext uri="{FF2B5EF4-FFF2-40B4-BE49-F238E27FC236}">
                <a16:creationId xmlns:a16="http://schemas.microsoft.com/office/drawing/2014/main" id="{44E107C9-E021-2626-B808-AD8B78F11CCB}"/>
              </a:ext>
            </a:extLst>
          </p:cNvPr>
          <p:cNvGraphicFramePr>
            <a:graphicFrameLocks noGrp="1"/>
          </p:cNvGraphicFramePr>
          <p:nvPr>
            <p:ph idx="1"/>
          </p:nvPr>
        </p:nvGraphicFramePr>
        <p:xfrm>
          <a:off x="838200" y="2121959"/>
          <a:ext cx="10515600" cy="2225040"/>
        </p:xfrm>
        <a:graphic>
          <a:graphicData uri="http://schemas.openxmlformats.org/drawingml/2006/table">
            <a:tbl>
              <a:tblPr firstCol="1" bandRow="1">
                <a:tableStyleId>{5C22544A-7EE6-4342-B048-85BDC9FD1C3A}</a:tableStyleId>
              </a:tblPr>
              <a:tblGrid>
                <a:gridCol w="2628900">
                  <a:extLst>
                    <a:ext uri="{9D8B030D-6E8A-4147-A177-3AD203B41FA5}">
                      <a16:colId xmlns:a16="http://schemas.microsoft.com/office/drawing/2014/main" val="1584735174"/>
                    </a:ext>
                  </a:extLst>
                </a:gridCol>
                <a:gridCol w="2628900">
                  <a:extLst>
                    <a:ext uri="{9D8B030D-6E8A-4147-A177-3AD203B41FA5}">
                      <a16:colId xmlns:a16="http://schemas.microsoft.com/office/drawing/2014/main" val="4163655718"/>
                    </a:ext>
                  </a:extLst>
                </a:gridCol>
                <a:gridCol w="2628900">
                  <a:extLst>
                    <a:ext uri="{9D8B030D-6E8A-4147-A177-3AD203B41FA5}">
                      <a16:colId xmlns:a16="http://schemas.microsoft.com/office/drawing/2014/main" val="1105799220"/>
                    </a:ext>
                  </a:extLst>
                </a:gridCol>
                <a:gridCol w="2628900">
                  <a:extLst>
                    <a:ext uri="{9D8B030D-6E8A-4147-A177-3AD203B41FA5}">
                      <a16:colId xmlns:a16="http://schemas.microsoft.com/office/drawing/2014/main" val="972576446"/>
                    </a:ext>
                  </a:extLst>
                </a:gridCol>
              </a:tblGrid>
              <a:tr h="370840">
                <a:tc>
                  <a:txBody>
                    <a:bodyPr/>
                    <a:lstStyle/>
                    <a:p>
                      <a:r>
                        <a:rPr lang="en-US"/>
                        <a:t>Parameter</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07102833"/>
                  </a:ext>
                </a:extLst>
              </a:tr>
              <a:tr h="370840">
                <a:tc>
                  <a:txBody>
                    <a:bodyPr/>
                    <a:lstStyle/>
                    <a:p>
                      <a:r>
                        <a:rPr lang="en-US" b="0"/>
                        <a:t>Hidden Layer Size</a:t>
                      </a:r>
                    </a:p>
                  </a:txBody>
                  <a:tcPr/>
                </a:tc>
                <a:tc>
                  <a:txBody>
                    <a:bodyPr/>
                    <a:lstStyle/>
                    <a:p>
                      <a:r>
                        <a:rPr lang="en-US" b="1"/>
                        <a:t>(50,)</a:t>
                      </a:r>
                    </a:p>
                  </a:txBody>
                  <a:tcPr/>
                </a:tc>
                <a:tc>
                  <a:txBody>
                    <a:bodyPr/>
                    <a:lstStyle/>
                    <a:p>
                      <a:r>
                        <a:rPr lang="en-US"/>
                        <a:t>(100,)</a:t>
                      </a:r>
                    </a:p>
                  </a:txBody>
                  <a:tcPr/>
                </a:tc>
                <a:tc>
                  <a:txBody>
                    <a:bodyPr/>
                    <a:lstStyle/>
                    <a:p>
                      <a:r>
                        <a:rPr lang="en-US"/>
                        <a:t>(100,50)</a:t>
                      </a:r>
                    </a:p>
                  </a:txBody>
                  <a:tcPr/>
                </a:tc>
                <a:extLst>
                  <a:ext uri="{0D108BD9-81ED-4DB2-BD59-A6C34878D82A}">
                    <a16:rowId xmlns:a16="http://schemas.microsoft.com/office/drawing/2014/main" val="3305221520"/>
                  </a:ext>
                </a:extLst>
              </a:tr>
              <a:tr h="370840">
                <a:tc>
                  <a:txBody>
                    <a:bodyPr/>
                    <a:lstStyle/>
                    <a:p>
                      <a:r>
                        <a:rPr lang="en-US" b="0"/>
                        <a:t>Activation Function</a:t>
                      </a:r>
                    </a:p>
                  </a:txBody>
                  <a:tcPr/>
                </a:tc>
                <a:tc>
                  <a:txBody>
                    <a:bodyPr/>
                    <a:lstStyle/>
                    <a:p>
                      <a:r>
                        <a:rPr lang="en-US" b="1" err="1"/>
                        <a:t>ReLu</a:t>
                      </a:r>
                      <a:endParaRPr lang="en-US" b="1"/>
                    </a:p>
                  </a:txBody>
                  <a:tcPr/>
                </a:tc>
                <a:tc>
                  <a:txBody>
                    <a:bodyPr/>
                    <a:lstStyle/>
                    <a:p>
                      <a:r>
                        <a:rPr lang="en-US"/>
                        <a:t>tanh</a:t>
                      </a:r>
                    </a:p>
                  </a:txBody>
                  <a:tcPr/>
                </a:tc>
                <a:tc>
                  <a:txBody>
                    <a:bodyPr/>
                    <a:lstStyle/>
                    <a:p>
                      <a:endParaRPr lang="en-US"/>
                    </a:p>
                  </a:txBody>
                  <a:tcPr/>
                </a:tc>
                <a:extLst>
                  <a:ext uri="{0D108BD9-81ED-4DB2-BD59-A6C34878D82A}">
                    <a16:rowId xmlns:a16="http://schemas.microsoft.com/office/drawing/2014/main" val="2822477289"/>
                  </a:ext>
                </a:extLst>
              </a:tr>
              <a:tr h="370840">
                <a:tc>
                  <a:txBody>
                    <a:bodyPr/>
                    <a:lstStyle/>
                    <a:p>
                      <a:r>
                        <a:rPr lang="en-US" b="0"/>
                        <a:t>Solver</a:t>
                      </a:r>
                    </a:p>
                  </a:txBody>
                  <a:tcPr/>
                </a:tc>
                <a:tc>
                  <a:txBody>
                    <a:bodyPr/>
                    <a:lstStyle/>
                    <a:p>
                      <a:r>
                        <a:rPr lang="en-US"/>
                        <a:t>Adam</a:t>
                      </a:r>
                    </a:p>
                  </a:txBody>
                  <a:tcPr/>
                </a:tc>
                <a:tc>
                  <a:txBody>
                    <a:bodyPr/>
                    <a:lstStyle/>
                    <a:p>
                      <a:r>
                        <a:rPr lang="en-US" b="1"/>
                        <a:t>SGD</a:t>
                      </a:r>
                    </a:p>
                  </a:txBody>
                  <a:tcPr/>
                </a:tc>
                <a:tc>
                  <a:txBody>
                    <a:bodyPr/>
                    <a:lstStyle/>
                    <a:p>
                      <a:r>
                        <a:rPr lang="en-US" err="1">
                          <a:solidFill>
                            <a:srgbClr val="FF0000"/>
                          </a:solidFill>
                        </a:rPr>
                        <a:t>lbfgs</a:t>
                      </a:r>
                      <a:endParaRPr lang="en-US">
                        <a:solidFill>
                          <a:srgbClr val="FF0000"/>
                        </a:solidFill>
                      </a:endParaRPr>
                    </a:p>
                  </a:txBody>
                  <a:tcPr/>
                </a:tc>
                <a:extLst>
                  <a:ext uri="{0D108BD9-81ED-4DB2-BD59-A6C34878D82A}">
                    <a16:rowId xmlns:a16="http://schemas.microsoft.com/office/drawing/2014/main" val="131071616"/>
                  </a:ext>
                </a:extLst>
              </a:tr>
              <a:tr h="370840">
                <a:tc>
                  <a:txBody>
                    <a:bodyPr/>
                    <a:lstStyle/>
                    <a:p>
                      <a:r>
                        <a:rPr lang="en-US" b="0"/>
                        <a:t>Regularization Strength</a:t>
                      </a:r>
                    </a:p>
                  </a:txBody>
                  <a:tcPr/>
                </a:tc>
                <a:tc>
                  <a:txBody>
                    <a:bodyPr/>
                    <a:lstStyle/>
                    <a:p>
                      <a:r>
                        <a:rPr lang="en-US"/>
                        <a:t>0.0001</a:t>
                      </a:r>
                    </a:p>
                  </a:txBody>
                  <a:tcPr/>
                </a:tc>
                <a:tc>
                  <a:txBody>
                    <a:bodyPr/>
                    <a:lstStyle/>
                    <a:p>
                      <a:r>
                        <a:rPr lang="en-US"/>
                        <a:t>0.001</a:t>
                      </a:r>
                    </a:p>
                  </a:txBody>
                  <a:tcPr/>
                </a:tc>
                <a:tc>
                  <a:txBody>
                    <a:bodyPr/>
                    <a:lstStyle/>
                    <a:p>
                      <a:r>
                        <a:rPr lang="en-US" b="1"/>
                        <a:t>0.01</a:t>
                      </a:r>
                    </a:p>
                  </a:txBody>
                  <a:tcPr/>
                </a:tc>
                <a:extLst>
                  <a:ext uri="{0D108BD9-81ED-4DB2-BD59-A6C34878D82A}">
                    <a16:rowId xmlns:a16="http://schemas.microsoft.com/office/drawing/2014/main" val="444245748"/>
                  </a:ext>
                </a:extLst>
              </a:tr>
              <a:tr h="370840">
                <a:tc>
                  <a:txBody>
                    <a:bodyPr/>
                    <a:lstStyle/>
                    <a:p>
                      <a:r>
                        <a:rPr lang="en-US" b="0"/>
                        <a:t>Initial Learning Rate</a:t>
                      </a:r>
                    </a:p>
                  </a:txBody>
                  <a:tcPr/>
                </a:tc>
                <a:tc>
                  <a:txBody>
                    <a:bodyPr/>
                    <a:lstStyle/>
                    <a:p>
                      <a:r>
                        <a:rPr lang="en-US">
                          <a:solidFill>
                            <a:srgbClr val="FF0000"/>
                          </a:solidFill>
                        </a:rPr>
                        <a:t>0.0001</a:t>
                      </a:r>
                    </a:p>
                  </a:txBody>
                  <a:tcPr/>
                </a:tc>
                <a:tc>
                  <a:txBody>
                    <a:bodyPr/>
                    <a:lstStyle/>
                    <a:p>
                      <a:r>
                        <a:rPr lang="en-US" b="1"/>
                        <a:t>0.001</a:t>
                      </a:r>
                    </a:p>
                  </a:txBody>
                  <a:tcPr/>
                </a:tc>
                <a:tc>
                  <a:txBody>
                    <a:bodyPr/>
                    <a:lstStyle/>
                    <a:p>
                      <a:r>
                        <a:rPr lang="en-US" b="0"/>
                        <a:t>0.01</a:t>
                      </a:r>
                    </a:p>
                  </a:txBody>
                  <a:tcPr/>
                </a:tc>
                <a:extLst>
                  <a:ext uri="{0D108BD9-81ED-4DB2-BD59-A6C34878D82A}">
                    <a16:rowId xmlns:a16="http://schemas.microsoft.com/office/drawing/2014/main" val="3080635188"/>
                  </a:ext>
                </a:extLst>
              </a:tr>
            </a:tbl>
          </a:graphicData>
        </a:graphic>
      </p:graphicFrame>
      <p:sp>
        <p:nvSpPr>
          <p:cNvPr id="4" name="Date Placeholder 3">
            <a:extLst>
              <a:ext uri="{FF2B5EF4-FFF2-40B4-BE49-F238E27FC236}">
                <a16:creationId xmlns:a16="http://schemas.microsoft.com/office/drawing/2014/main" id="{FA0D4EAA-5836-2F1F-4EB1-75E47CB0A87E}"/>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89F90B4C-B2F0-4D95-19B0-FE99F870521D}"/>
              </a:ext>
            </a:extLst>
          </p:cNvPr>
          <p:cNvSpPr>
            <a:spLocks noGrp="1"/>
          </p:cNvSpPr>
          <p:nvPr>
            <p:ph type="ftr" sz="quarter" idx="11"/>
          </p:nvPr>
        </p:nvSpPr>
        <p:spPr/>
        <p:txBody>
          <a:bodyPr/>
          <a:lstStyle/>
          <a:p>
            <a:r>
              <a:rPr lang="en-US"/>
              <a:t>DASC 41103 – Project 2 – Group 29</a:t>
            </a:r>
          </a:p>
        </p:txBody>
      </p:sp>
      <p:sp>
        <p:nvSpPr>
          <p:cNvPr id="7" name="Content Placeholder 5">
            <a:extLst>
              <a:ext uri="{FF2B5EF4-FFF2-40B4-BE49-F238E27FC236}">
                <a16:creationId xmlns:a16="http://schemas.microsoft.com/office/drawing/2014/main" id="{61DD6F42-DFB1-4B9C-9760-A77E083E5E05}"/>
              </a:ext>
            </a:extLst>
          </p:cNvPr>
          <p:cNvSpPr txBox="1">
            <a:spLocks/>
          </p:cNvSpPr>
          <p:nvPr/>
        </p:nvSpPr>
        <p:spPr>
          <a:xfrm>
            <a:off x="753533" y="1673675"/>
            <a:ext cx="10515600" cy="46529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Parameter Grid:</a:t>
            </a:r>
          </a:p>
        </p:txBody>
      </p:sp>
      <p:sp>
        <p:nvSpPr>
          <p:cNvPr id="10" name="Content Placeholder 5">
            <a:extLst>
              <a:ext uri="{FF2B5EF4-FFF2-40B4-BE49-F238E27FC236}">
                <a16:creationId xmlns:a16="http://schemas.microsoft.com/office/drawing/2014/main" id="{B7BC76E1-771E-4F1E-E207-9983F837A4FC}"/>
              </a:ext>
            </a:extLst>
          </p:cNvPr>
          <p:cNvSpPr txBox="1">
            <a:spLocks/>
          </p:cNvSpPr>
          <p:nvPr/>
        </p:nvSpPr>
        <p:spPr>
          <a:xfrm>
            <a:off x="838200" y="4690533"/>
            <a:ext cx="10515600" cy="1486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Some models with </a:t>
            </a:r>
            <a:r>
              <a:rPr lang="en-US" sz="2000">
                <a:solidFill>
                  <a:srgbClr val="FF0000"/>
                </a:solidFill>
              </a:rPr>
              <a:t>specific parameters </a:t>
            </a:r>
            <a:r>
              <a:rPr lang="en-US" sz="2000"/>
              <a:t>consistently failed to converge, so those parameters were removed from the grid</a:t>
            </a:r>
          </a:p>
        </p:txBody>
      </p:sp>
    </p:spTree>
    <p:extLst>
      <p:ext uri="{BB962C8B-B14F-4D97-AF65-F5344CB8AC3E}">
        <p14:creationId xmlns:p14="http://schemas.microsoft.com/office/powerpoint/2010/main" val="1819795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084D9-7440-0255-8CE4-447387147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17038-93B1-7640-9F31-CF7A7329F3D9}"/>
              </a:ext>
            </a:extLst>
          </p:cNvPr>
          <p:cNvSpPr>
            <a:spLocks noGrp="1"/>
          </p:cNvSpPr>
          <p:nvPr>
            <p:ph type="title"/>
          </p:nvPr>
        </p:nvSpPr>
        <p:spPr/>
        <p:txBody>
          <a:bodyPr/>
          <a:lstStyle/>
          <a:p>
            <a:r>
              <a:rPr lang="en-US"/>
              <a:t>Model Development – Best Model</a:t>
            </a:r>
          </a:p>
        </p:txBody>
      </p:sp>
      <p:graphicFrame>
        <p:nvGraphicFramePr>
          <p:cNvPr id="6" name="Content Placeholder 5">
            <a:extLst>
              <a:ext uri="{FF2B5EF4-FFF2-40B4-BE49-F238E27FC236}">
                <a16:creationId xmlns:a16="http://schemas.microsoft.com/office/drawing/2014/main" id="{EE27E079-A263-DC85-4245-F71E3EB17C0B}"/>
              </a:ext>
            </a:extLst>
          </p:cNvPr>
          <p:cNvGraphicFramePr>
            <a:graphicFrameLocks noGrp="1"/>
          </p:cNvGraphicFramePr>
          <p:nvPr>
            <p:ph idx="1"/>
          </p:nvPr>
        </p:nvGraphicFramePr>
        <p:xfrm>
          <a:off x="838200" y="2121959"/>
          <a:ext cx="10515600" cy="2225040"/>
        </p:xfrm>
        <a:graphic>
          <a:graphicData uri="http://schemas.openxmlformats.org/drawingml/2006/table">
            <a:tbl>
              <a:tblPr firstCol="1" bandRow="1">
                <a:tableStyleId>{5C22544A-7EE6-4342-B048-85BDC9FD1C3A}</a:tableStyleId>
              </a:tblPr>
              <a:tblGrid>
                <a:gridCol w="2628900">
                  <a:extLst>
                    <a:ext uri="{9D8B030D-6E8A-4147-A177-3AD203B41FA5}">
                      <a16:colId xmlns:a16="http://schemas.microsoft.com/office/drawing/2014/main" val="1584735174"/>
                    </a:ext>
                  </a:extLst>
                </a:gridCol>
                <a:gridCol w="2628900">
                  <a:extLst>
                    <a:ext uri="{9D8B030D-6E8A-4147-A177-3AD203B41FA5}">
                      <a16:colId xmlns:a16="http://schemas.microsoft.com/office/drawing/2014/main" val="4163655718"/>
                    </a:ext>
                  </a:extLst>
                </a:gridCol>
                <a:gridCol w="2628900">
                  <a:extLst>
                    <a:ext uri="{9D8B030D-6E8A-4147-A177-3AD203B41FA5}">
                      <a16:colId xmlns:a16="http://schemas.microsoft.com/office/drawing/2014/main" val="1105799220"/>
                    </a:ext>
                  </a:extLst>
                </a:gridCol>
                <a:gridCol w="2628900">
                  <a:extLst>
                    <a:ext uri="{9D8B030D-6E8A-4147-A177-3AD203B41FA5}">
                      <a16:colId xmlns:a16="http://schemas.microsoft.com/office/drawing/2014/main" val="972576446"/>
                    </a:ext>
                  </a:extLst>
                </a:gridCol>
              </a:tblGrid>
              <a:tr h="370840">
                <a:tc>
                  <a:txBody>
                    <a:bodyPr/>
                    <a:lstStyle/>
                    <a:p>
                      <a:r>
                        <a:rPr lang="en-US"/>
                        <a:t>Parameter</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07102833"/>
                  </a:ext>
                </a:extLst>
              </a:tr>
              <a:tr h="370840">
                <a:tc>
                  <a:txBody>
                    <a:bodyPr/>
                    <a:lstStyle/>
                    <a:p>
                      <a:r>
                        <a:rPr lang="en-US" b="0"/>
                        <a:t>Hidden Layer Size</a:t>
                      </a:r>
                    </a:p>
                  </a:txBody>
                  <a:tcPr/>
                </a:tc>
                <a:tc>
                  <a:txBody>
                    <a:bodyPr/>
                    <a:lstStyle/>
                    <a:p>
                      <a:r>
                        <a:rPr lang="en-US" b="0"/>
                        <a:t>(50,)</a:t>
                      </a:r>
                    </a:p>
                  </a:txBody>
                  <a:tcPr/>
                </a:tc>
                <a:tc>
                  <a:txBody>
                    <a:bodyPr/>
                    <a:lstStyle/>
                    <a:p>
                      <a:r>
                        <a:rPr lang="en-US" b="0"/>
                        <a:t>(100,)</a:t>
                      </a:r>
                    </a:p>
                  </a:txBody>
                  <a:tcPr/>
                </a:tc>
                <a:tc>
                  <a:txBody>
                    <a:bodyPr/>
                    <a:lstStyle/>
                    <a:p>
                      <a:r>
                        <a:rPr lang="en-US" b="0"/>
                        <a:t>(100,50)</a:t>
                      </a:r>
                    </a:p>
                  </a:txBody>
                  <a:tcPr/>
                </a:tc>
                <a:extLst>
                  <a:ext uri="{0D108BD9-81ED-4DB2-BD59-A6C34878D82A}">
                    <a16:rowId xmlns:a16="http://schemas.microsoft.com/office/drawing/2014/main" val="3305221520"/>
                  </a:ext>
                </a:extLst>
              </a:tr>
              <a:tr h="370840">
                <a:tc>
                  <a:txBody>
                    <a:bodyPr/>
                    <a:lstStyle/>
                    <a:p>
                      <a:r>
                        <a:rPr lang="en-US" b="0"/>
                        <a:t>Activation Function</a:t>
                      </a:r>
                    </a:p>
                  </a:txBody>
                  <a:tcPr/>
                </a:tc>
                <a:tc>
                  <a:txBody>
                    <a:bodyPr/>
                    <a:lstStyle/>
                    <a:p>
                      <a:r>
                        <a:rPr lang="en-US" b="0" err="1"/>
                        <a:t>ReLu</a:t>
                      </a:r>
                      <a:endParaRPr lang="en-US" b="0"/>
                    </a:p>
                  </a:txBody>
                  <a:tcPr/>
                </a:tc>
                <a:tc>
                  <a:txBody>
                    <a:bodyPr/>
                    <a:lstStyle/>
                    <a:p>
                      <a:r>
                        <a:rPr lang="en-US" b="0"/>
                        <a:t>tanh</a:t>
                      </a:r>
                    </a:p>
                  </a:txBody>
                  <a:tcPr/>
                </a:tc>
                <a:tc>
                  <a:txBody>
                    <a:bodyPr/>
                    <a:lstStyle/>
                    <a:p>
                      <a:endParaRPr lang="en-US" b="0"/>
                    </a:p>
                  </a:txBody>
                  <a:tcPr/>
                </a:tc>
                <a:extLst>
                  <a:ext uri="{0D108BD9-81ED-4DB2-BD59-A6C34878D82A}">
                    <a16:rowId xmlns:a16="http://schemas.microsoft.com/office/drawing/2014/main" val="2822477289"/>
                  </a:ext>
                </a:extLst>
              </a:tr>
              <a:tr h="370840">
                <a:tc>
                  <a:txBody>
                    <a:bodyPr/>
                    <a:lstStyle/>
                    <a:p>
                      <a:r>
                        <a:rPr lang="en-US" b="0"/>
                        <a:t>Solver</a:t>
                      </a:r>
                    </a:p>
                  </a:txBody>
                  <a:tcPr/>
                </a:tc>
                <a:tc>
                  <a:txBody>
                    <a:bodyPr/>
                    <a:lstStyle/>
                    <a:p>
                      <a:r>
                        <a:rPr lang="en-US" b="0"/>
                        <a:t>Adam</a:t>
                      </a:r>
                    </a:p>
                  </a:txBody>
                  <a:tcPr/>
                </a:tc>
                <a:tc>
                  <a:txBody>
                    <a:bodyPr/>
                    <a:lstStyle/>
                    <a:p>
                      <a:r>
                        <a:rPr lang="en-US" b="0"/>
                        <a:t>SGD</a:t>
                      </a:r>
                    </a:p>
                  </a:txBody>
                  <a:tcPr/>
                </a:tc>
                <a:tc>
                  <a:txBody>
                    <a:bodyPr/>
                    <a:lstStyle/>
                    <a:p>
                      <a:r>
                        <a:rPr lang="en-US" b="0" err="1"/>
                        <a:t>lbfgs</a:t>
                      </a:r>
                      <a:endParaRPr lang="en-US" b="0"/>
                    </a:p>
                  </a:txBody>
                  <a:tcPr/>
                </a:tc>
                <a:extLst>
                  <a:ext uri="{0D108BD9-81ED-4DB2-BD59-A6C34878D82A}">
                    <a16:rowId xmlns:a16="http://schemas.microsoft.com/office/drawing/2014/main" val="131071616"/>
                  </a:ext>
                </a:extLst>
              </a:tr>
              <a:tr h="370840">
                <a:tc>
                  <a:txBody>
                    <a:bodyPr/>
                    <a:lstStyle/>
                    <a:p>
                      <a:r>
                        <a:rPr lang="en-US" b="0"/>
                        <a:t>Regularization Strength</a:t>
                      </a:r>
                    </a:p>
                  </a:txBody>
                  <a:tcPr/>
                </a:tc>
                <a:tc>
                  <a:txBody>
                    <a:bodyPr/>
                    <a:lstStyle/>
                    <a:p>
                      <a:r>
                        <a:rPr lang="en-US" b="0"/>
                        <a:t>0.0001</a:t>
                      </a:r>
                    </a:p>
                  </a:txBody>
                  <a:tcPr/>
                </a:tc>
                <a:tc>
                  <a:txBody>
                    <a:bodyPr/>
                    <a:lstStyle/>
                    <a:p>
                      <a:r>
                        <a:rPr lang="en-US" b="0"/>
                        <a:t>0.001</a:t>
                      </a:r>
                    </a:p>
                  </a:txBody>
                  <a:tcPr/>
                </a:tc>
                <a:tc>
                  <a:txBody>
                    <a:bodyPr/>
                    <a:lstStyle/>
                    <a:p>
                      <a:r>
                        <a:rPr lang="en-US" b="0"/>
                        <a:t>0.01</a:t>
                      </a:r>
                    </a:p>
                  </a:txBody>
                  <a:tcPr/>
                </a:tc>
                <a:extLst>
                  <a:ext uri="{0D108BD9-81ED-4DB2-BD59-A6C34878D82A}">
                    <a16:rowId xmlns:a16="http://schemas.microsoft.com/office/drawing/2014/main" val="444245748"/>
                  </a:ext>
                </a:extLst>
              </a:tr>
              <a:tr h="370840">
                <a:tc>
                  <a:txBody>
                    <a:bodyPr/>
                    <a:lstStyle/>
                    <a:p>
                      <a:r>
                        <a:rPr lang="en-US" b="0"/>
                        <a:t>Initial Learning Rate</a:t>
                      </a:r>
                    </a:p>
                  </a:txBody>
                  <a:tcPr/>
                </a:tc>
                <a:tc>
                  <a:txBody>
                    <a:bodyPr/>
                    <a:lstStyle/>
                    <a:p>
                      <a:r>
                        <a:rPr lang="en-US" b="0"/>
                        <a:t>0.0001</a:t>
                      </a:r>
                    </a:p>
                  </a:txBody>
                  <a:tcPr/>
                </a:tc>
                <a:tc>
                  <a:txBody>
                    <a:bodyPr/>
                    <a:lstStyle/>
                    <a:p>
                      <a:r>
                        <a:rPr lang="en-US" b="0"/>
                        <a:t>0.001</a:t>
                      </a:r>
                    </a:p>
                  </a:txBody>
                  <a:tcPr/>
                </a:tc>
                <a:tc>
                  <a:txBody>
                    <a:bodyPr/>
                    <a:lstStyle/>
                    <a:p>
                      <a:r>
                        <a:rPr lang="en-US" b="0"/>
                        <a:t>0.01</a:t>
                      </a:r>
                    </a:p>
                  </a:txBody>
                  <a:tcPr/>
                </a:tc>
                <a:extLst>
                  <a:ext uri="{0D108BD9-81ED-4DB2-BD59-A6C34878D82A}">
                    <a16:rowId xmlns:a16="http://schemas.microsoft.com/office/drawing/2014/main" val="3080635188"/>
                  </a:ext>
                </a:extLst>
              </a:tr>
            </a:tbl>
          </a:graphicData>
        </a:graphic>
      </p:graphicFrame>
      <p:sp>
        <p:nvSpPr>
          <p:cNvPr id="4" name="Date Placeholder 3">
            <a:extLst>
              <a:ext uri="{FF2B5EF4-FFF2-40B4-BE49-F238E27FC236}">
                <a16:creationId xmlns:a16="http://schemas.microsoft.com/office/drawing/2014/main" id="{54705D5A-1773-8BC5-4B43-4CF1A86683D7}"/>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145E7BD2-0FD9-8BAB-B100-3EDD9907B8E0}"/>
              </a:ext>
            </a:extLst>
          </p:cNvPr>
          <p:cNvSpPr>
            <a:spLocks noGrp="1"/>
          </p:cNvSpPr>
          <p:nvPr>
            <p:ph type="ftr" sz="quarter" idx="11"/>
          </p:nvPr>
        </p:nvSpPr>
        <p:spPr/>
        <p:txBody>
          <a:bodyPr/>
          <a:lstStyle/>
          <a:p>
            <a:r>
              <a:rPr lang="en-US"/>
              <a:t>DASC 41103 – Project 2 – Group 29</a:t>
            </a:r>
          </a:p>
        </p:txBody>
      </p:sp>
      <p:sp>
        <p:nvSpPr>
          <p:cNvPr id="7" name="Content Placeholder 5">
            <a:extLst>
              <a:ext uri="{FF2B5EF4-FFF2-40B4-BE49-F238E27FC236}">
                <a16:creationId xmlns:a16="http://schemas.microsoft.com/office/drawing/2014/main" id="{0B68553D-122A-F6F2-B705-0FA4C0549ADE}"/>
              </a:ext>
            </a:extLst>
          </p:cNvPr>
          <p:cNvSpPr txBox="1">
            <a:spLocks/>
          </p:cNvSpPr>
          <p:nvPr/>
        </p:nvSpPr>
        <p:spPr>
          <a:xfrm>
            <a:off x="753533" y="1673675"/>
            <a:ext cx="10515600" cy="46529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Parameter Grid:</a:t>
            </a:r>
          </a:p>
        </p:txBody>
      </p:sp>
    </p:spTree>
    <p:extLst>
      <p:ext uri="{BB962C8B-B14F-4D97-AF65-F5344CB8AC3E}">
        <p14:creationId xmlns:p14="http://schemas.microsoft.com/office/powerpoint/2010/main" val="1716460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55958C-7260-A65F-4552-F2405E3BA44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677FB55-5607-102C-94EA-393BC53D5FF0}"/>
              </a:ext>
            </a:extLst>
          </p:cNvPr>
          <p:cNvSpPr/>
          <p:nvPr/>
        </p:nvSpPr>
        <p:spPr>
          <a:xfrm>
            <a:off x="-1830" y="-1831"/>
            <a:ext cx="12230745" cy="16273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D499B0-8A73-FFB9-5800-F3E39F595799}"/>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3400">
                <a:solidFill>
                  <a:srgbClr val="FFFFFF"/>
                </a:solidFill>
              </a:rPr>
              <a:t>Model Development – Best Model</a:t>
            </a:r>
          </a:p>
        </p:txBody>
      </p:sp>
      <p:sp>
        <p:nvSpPr>
          <p:cNvPr id="3" name="Content Placeholder 2">
            <a:extLst>
              <a:ext uri="{FF2B5EF4-FFF2-40B4-BE49-F238E27FC236}">
                <a16:creationId xmlns:a16="http://schemas.microsoft.com/office/drawing/2014/main" id="{7FC719CE-A0E9-81E2-86F6-34C014EE6642}"/>
              </a:ext>
            </a:extLst>
          </p:cNvPr>
          <p:cNvSpPr>
            <a:spLocks noGrp="1"/>
          </p:cNvSpPr>
          <p:nvPr>
            <p:ph idx="1"/>
          </p:nvPr>
        </p:nvSpPr>
        <p:spPr>
          <a:xfrm>
            <a:off x="8571507" y="387224"/>
            <a:ext cx="3291839" cy="830453"/>
          </a:xfrm>
        </p:spPr>
        <p:txBody>
          <a:bodyPr vert="horz" lIns="91440" tIns="45720" rIns="91440" bIns="45720" rtlCol="0" anchor="ctr">
            <a:normAutofit lnSpcReduction="10000"/>
          </a:bodyPr>
          <a:lstStyle/>
          <a:p>
            <a:pPr marL="0" indent="0">
              <a:buNone/>
            </a:pPr>
            <a:r>
              <a:rPr lang="en-US" i="1">
                <a:solidFill>
                  <a:srgbClr val="FFFFFF"/>
                </a:solidFill>
              </a:rPr>
              <a:t>Test Accuracy: 85.41%</a:t>
            </a:r>
          </a:p>
        </p:txBody>
      </p:sp>
      <p:sp>
        <p:nvSpPr>
          <p:cNvPr id="4" name="Date Placeholder 3">
            <a:extLst>
              <a:ext uri="{FF2B5EF4-FFF2-40B4-BE49-F238E27FC236}">
                <a16:creationId xmlns:a16="http://schemas.microsoft.com/office/drawing/2014/main" id="{6AC06A67-635E-FFA1-0E9D-D7F48461F216}"/>
              </a:ext>
            </a:extLst>
          </p:cNvPr>
          <p:cNvSpPr>
            <a:spLocks noGrp="1"/>
          </p:cNvSpPr>
          <p:nvPr>
            <p:ph type="dt" sz="half" idx="10"/>
          </p:nvPr>
        </p:nvSpPr>
        <p:spPr>
          <a:xfrm>
            <a:off x="8970264" y="6431079"/>
            <a:ext cx="2743200" cy="365125"/>
          </a:xfrm>
          <a:noFill/>
        </p:spPr>
        <p:txBody>
          <a:bodyPr vert="horz" lIns="91440" tIns="45720" rIns="91440" bIns="45720" rtlCol="0" anchor="ctr">
            <a:normAutofit/>
          </a:bodyPr>
          <a:lstStyle/>
          <a:p>
            <a:pPr algn="r">
              <a:spcAft>
                <a:spcPts val="600"/>
              </a:spcAft>
            </a:pPr>
            <a:r>
              <a:rPr lang="en-US" sz="1100">
                <a:solidFill>
                  <a:schemeClr val="tx1">
                    <a:lumMod val="50000"/>
                    <a:lumOff val="50000"/>
                  </a:schemeClr>
                </a:solidFill>
              </a:rPr>
              <a:t>9/30/2025</a:t>
            </a:r>
          </a:p>
        </p:txBody>
      </p:sp>
      <p:pic>
        <p:nvPicPr>
          <p:cNvPr id="8" name="Picture 7">
            <a:extLst>
              <a:ext uri="{FF2B5EF4-FFF2-40B4-BE49-F238E27FC236}">
                <a16:creationId xmlns:a16="http://schemas.microsoft.com/office/drawing/2014/main" id="{B30F8D2A-A51D-9983-8BC5-8E940262FE9A}"/>
              </a:ext>
            </a:extLst>
          </p:cNvPr>
          <p:cNvPicPr>
            <a:picLocks noChangeAspect="1"/>
          </p:cNvPicPr>
          <p:nvPr/>
        </p:nvPicPr>
        <p:blipFill>
          <a:blip r:embed="rId3"/>
          <a:stretch>
            <a:fillRect/>
          </a:stretch>
        </p:blipFill>
        <p:spPr>
          <a:xfrm>
            <a:off x="6345166" y="2181425"/>
            <a:ext cx="5056343" cy="4112250"/>
          </a:xfrm>
          <a:prstGeom prst="rect">
            <a:avLst/>
          </a:prstGeom>
        </p:spPr>
      </p:pic>
      <p:pic>
        <p:nvPicPr>
          <p:cNvPr id="12" name="Picture 11">
            <a:extLst>
              <a:ext uri="{FF2B5EF4-FFF2-40B4-BE49-F238E27FC236}">
                <a16:creationId xmlns:a16="http://schemas.microsoft.com/office/drawing/2014/main" id="{49206BB6-4C58-C0E0-D951-8BC03E069401}"/>
              </a:ext>
            </a:extLst>
          </p:cNvPr>
          <p:cNvPicPr>
            <a:picLocks noChangeAspect="1"/>
          </p:cNvPicPr>
          <p:nvPr/>
        </p:nvPicPr>
        <p:blipFill>
          <a:blip r:embed="rId4"/>
          <a:stretch>
            <a:fillRect/>
          </a:stretch>
        </p:blipFill>
        <p:spPr>
          <a:xfrm>
            <a:off x="699714" y="2181425"/>
            <a:ext cx="5147121" cy="4112250"/>
          </a:xfrm>
          <a:prstGeom prst="rect">
            <a:avLst/>
          </a:prstGeom>
        </p:spPr>
      </p:pic>
    </p:spTree>
    <p:extLst>
      <p:ext uri="{BB962C8B-B14F-4D97-AF65-F5344CB8AC3E}">
        <p14:creationId xmlns:p14="http://schemas.microsoft.com/office/powerpoint/2010/main" val="3142105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8DF8B45-C061-C954-5156-F40AC9857E7B}"/>
              </a:ext>
            </a:extLst>
          </p:cNvPr>
          <p:cNvPicPr>
            <a:picLocks noGrp="1" noChangeAspect="1"/>
          </p:cNvPicPr>
          <p:nvPr>
            <p:ph idx="1"/>
          </p:nvPr>
        </p:nvPicPr>
        <p:blipFill>
          <a:blip r:embed="rId3"/>
          <a:stretch>
            <a:fillRect/>
          </a:stretch>
        </p:blipFill>
        <p:spPr>
          <a:xfrm>
            <a:off x="1194442" y="275936"/>
            <a:ext cx="9803115" cy="6080414"/>
          </a:xfrm>
          <a:prstGeom prst="rect">
            <a:avLst/>
          </a:prstGeom>
        </p:spPr>
      </p:pic>
      <p:sp>
        <p:nvSpPr>
          <p:cNvPr id="4" name="Date Placeholder 3">
            <a:extLst>
              <a:ext uri="{FF2B5EF4-FFF2-40B4-BE49-F238E27FC236}">
                <a16:creationId xmlns:a16="http://schemas.microsoft.com/office/drawing/2014/main" id="{CBB85C2C-894D-9849-F415-D97C92603DD6}"/>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4C77EEE0-D686-9676-97AC-DA0C423003F2}"/>
              </a:ext>
            </a:extLst>
          </p:cNvPr>
          <p:cNvSpPr>
            <a:spLocks noGrp="1"/>
          </p:cNvSpPr>
          <p:nvPr>
            <p:ph type="ftr" sz="quarter" idx="11"/>
          </p:nvPr>
        </p:nvSpPr>
        <p:spPr/>
        <p:txBody>
          <a:bodyPr/>
          <a:lstStyle/>
          <a:p>
            <a:r>
              <a:rPr lang="en-US"/>
              <a:t>DASC 41103 – Project 2 – Group 29</a:t>
            </a:r>
          </a:p>
        </p:txBody>
      </p:sp>
    </p:spTree>
    <p:extLst>
      <p:ext uri="{BB962C8B-B14F-4D97-AF65-F5344CB8AC3E}">
        <p14:creationId xmlns:p14="http://schemas.microsoft.com/office/powerpoint/2010/main" val="4209523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55080-9095-65B4-2FC8-74EFA5FE0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EDE3B-613F-B7D3-5C64-6E436B1ADE55}"/>
              </a:ext>
            </a:extLst>
          </p:cNvPr>
          <p:cNvSpPr>
            <a:spLocks noGrp="1"/>
          </p:cNvSpPr>
          <p:nvPr>
            <p:ph type="title"/>
          </p:nvPr>
        </p:nvSpPr>
        <p:spPr/>
        <p:txBody>
          <a:bodyPr/>
          <a:lstStyle/>
          <a:p>
            <a:r>
              <a:rPr lang="en-US"/>
              <a:t>Reflection: Architecture Choice</a:t>
            </a:r>
          </a:p>
        </p:txBody>
      </p:sp>
      <p:sp>
        <p:nvSpPr>
          <p:cNvPr id="4" name="Date Placeholder 3">
            <a:extLst>
              <a:ext uri="{FF2B5EF4-FFF2-40B4-BE49-F238E27FC236}">
                <a16:creationId xmlns:a16="http://schemas.microsoft.com/office/drawing/2014/main" id="{9F238B87-9081-2F98-AB36-580BC657D156}"/>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5C50CC31-BC8E-D18D-781E-FFA2843011F1}"/>
              </a:ext>
            </a:extLst>
          </p:cNvPr>
          <p:cNvSpPr>
            <a:spLocks noGrp="1"/>
          </p:cNvSpPr>
          <p:nvPr>
            <p:ph type="ftr" sz="quarter" idx="11"/>
          </p:nvPr>
        </p:nvSpPr>
        <p:spPr/>
        <p:txBody>
          <a:bodyPr/>
          <a:lstStyle/>
          <a:p>
            <a:r>
              <a:rPr lang="en-US"/>
              <a:t>DASC 41103 – Project 1 – Group 29</a:t>
            </a:r>
          </a:p>
        </p:txBody>
      </p:sp>
      <p:sp>
        <p:nvSpPr>
          <p:cNvPr id="6" name="Content Placeholder 5">
            <a:extLst>
              <a:ext uri="{FF2B5EF4-FFF2-40B4-BE49-F238E27FC236}">
                <a16:creationId xmlns:a16="http://schemas.microsoft.com/office/drawing/2014/main" id="{144E863D-8169-8BC1-9F4E-E5E4C33E41F1}"/>
              </a:ext>
            </a:extLst>
          </p:cNvPr>
          <p:cNvSpPr>
            <a:spLocks noGrp="1"/>
          </p:cNvSpPr>
          <p:nvPr>
            <p:ph idx="1"/>
          </p:nvPr>
        </p:nvSpPr>
        <p:spPr/>
        <p:txBody>
          <a:bodyPr/>
          <a:lstStyle/>
          <a:p>
            <a:r>
              <a:rPr lang="en-US" b="1" dirty="0"/>
              <a:t>Number of layers: </a:t>
            </a:r>
            <a:r>
              <a:rPr lang="en-US" dirty="0"/>
              <a:t>Balanced depth to capture complexity without overfitting small dataset</a:t>
            </a:r>
          </a:p>
          <a:p>
            <a:r>
              <a:rPr lang="en-US" b="1" dirty="0"/>
              <a:t>Hidden units: </a:t>
            </a:r>
            <a:r>
              <a:rPr lang="en-US" dirty="0"/>
              <a:t>Larger first layer to capture broad patterns, smaller later layers to refine features</a:t>
            </a:r>
          </a:p>
          <a:p>
            <a:r>
              <a:rPr lang="en-US" b="1" dirty="0"/>
              <a:t>Activation functions: </a:t>
            </a:r>
            <a:r>
              <a:rPr lang="en-US" dirty="0" err="1"/>
              <a:t>ReLU</a:t>
            </a:r>
            <a:r>
              <a:rPr lang="en-US" dirty="0"/>
              <a:t> for hidden layers (fast convergence, avoids vanishing gradient), sigmoid for output (binary classification)</a:t>
            </a:r>
          </a:p>
          <a:p>
            <a:r>
              <a:rPr lang="en-US" b="1" dirty="0"/>
              <a:t>Design rationale: </a:t>
            </a:r>
            <a:r>
              <a:rPr lang="en-US" dirty="0"/>
              <a:t>Tabular dataset with mixed features benefits from moderate depth and non‑linear activations</a:t>
            </a:r>
          </a:p>
        </p:txBody>
      </p:sp>
    </p:spTree>
    <p:extLst>
      <p:ext uri="{BB962C8B-B14F-4D97-AF65-F5344CB8AC3E}">
        <p14:creationId xmlns:p14="http://schemas.microsoft.com/office/powerpoint/2010/main" val="536337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023BE-38D7-8487-3E84-170F7D240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0D04-2DB3-2D7D-F50F-117F24E7E1E6}"/>
              </a:ext>
            </a:extLst>
          </p:cNvPr>
          <p:cNvSpPr>
            <a:spLocks noGrp="1"/>
          </p:cNvSpPr>
          <p:nvPr>
            <p:ph type="title"/>
          </p:nvPr>
        </p:nvSpPr>
        <p:spPr/>
        <p:txBody>
          <a:bodyPr/>
          <a:lstStyle/>
          <a:p>
            <a:r>
              <a:rPr lang="en-US"/>
              <a:t>Reflection: Overfitting</a:t>
            </a:r>
          </a:p>
        </p:txBody>
      </p:sp>
      <p:sp>
        <p:nvSpPr>
          <p:cNvPr id="4" name="Date Placeholder 3">
            <a:extLst>
              <a:ext uri="{FF2B5EF4-FFF2-40B4-BE49-F238E27FC236}">
                <a16:creationId xmlns:a16="http://schemas.microsoft.com/office/drawing/2014/main" id="{83AADA41-31AC-82CE-84B8-CD5CD90ED805}"/>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2A1F4DBD-4D88-D7D6-E566-EF252CFA9A54}"/>
              </a:ext>
            </a:extLst>
          </p:cNvPr>
          <p:cNvSpPr>
            <a:spLocks noGrp="1"/>
          </p:cNvSpPr>
          <p:nvPr>
            <p:ph type="ftr" sz="quarter" idx="11"/>
          </p:nvPr>
        </p:nvSpPr>
        <p:spPr/>
        <p:txBody>
          <a:bodyPr/>
          <a:lstStyle/>
          <a:p>
            <a:r>
              <a:rPr lang="en-US"/>
              <a:t>DASC 41103 – Project 1 – Group 29</a:t>
            </a:r>
          </a:p>
        </p:txBody>
      </p:sp>
      <p:sp>
        <p:nvSpPr>
          <p:cNvPr id="6" name="Content Placeholder 5">
            <a:extLst>
              <a:ext uri="{FF2B5EF4-FFF2-40B4-BE49-F238E27FC236}">
                <a16:creationId xmlns:a16="http://schemas.microsoft.com/office/drawing/2014/main" id="{D0BF5982-92F9-B5CA-CF6E-4F29C526FAD8}"/>
              </a:ext>
            </a:extLst>
          </p:cNvPr>
          <p:cNvSpPr>
            <a:spLocks noGrp="1"/>
          </p:cNvSpPr>
          <p:nvPr>
            <p:ph idx="1"/>
          </p:nvPr>
        </p:nvSpPr>
        <p:spPr/>
        <p:txBody>
          <a:bodyPr/>
          <a:lstStyle/>
          <a:p>
            <a:r>
              <a:rPr lang="en-US" b="1" dirty="0"/>
              <a:t>Monitoring: </a:t>
            </a:r>
            <a:r>
              <a:rPr lang="en-US" dirty="0"/>
              <a:t>Compared training vs. validation accuracy/loss curves</a:t>
            </a:r>
          </a:p>
          <a:p>
            <a:r>
              <a:rPr lang="en-US" b="1" dirty="0"/>
              <a:t>Mitigation techniques:</a:t>
            </a:r>
          </a:p>
          <a:p>
            <a:pPr lvl="1"/>
            <a:r>
              <a:rPr lang="en-US" dirty="0"/>
              <a:t>L2 regularization to penalize large weights</a:t>
            </a:r>
          </a:p>
          <a:p>
            <a:pPr lvl="1"/>
            <a:endParaRPr lang="en-US" dirty="0"/>
          </a:p>
          <a:p>
            <a:r>
              <a:rPr lang="en-US" b="1" dirty="0"/>
              <a:t>Trade‑offs: </a:t>
            </a:r>
            <a:r>
              <a:rPr lang="en-US" dirty="0"/>
              <a:t>Deeper models captured complexity but required stronger regularization</a:t>
            </a:r>
          </a:p>
        </p:txBody>
      </p:sp>
    </p:spTree>
    <p:extLst>
      <p:ext uri="{BB962C8B-B14F-4D97-AF65-F5344CB8AC3E}">
        <p14:creationId xmlns:p14="http://schemas.microsoft.com/office/powerpoint/2010/main" val="3506893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2933-9646-32A0-E8D0-237BB8EBF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4E43C-9CEB-F767-C0E4-34ED28601ECB}"/>
              </a:ext>
            </a:extLst>
          </p:cNvPr>
          <p:cNvSpPr>
            <a:spLocks noGrp="1"/>
          </p:cNvSpPr>
          <p:nvPr>
            <p:ph type="title"/>
          </p:nvPr>
        </p:nvSpPr>
        <p:spPr/>
        <p:txBody>
          <a:bodyPr/>
          <a:lstStyle/>
          <a:p>
            <a:r>
              <a:rPr lang="en-US"/>
              <a:t>Reflection: Ethical Concerns</a:t>
            </a:r>
          </a:p>
        </p:txBody>
      </p:sp>
      <p:sp>
        <p:nvSpPr>
          <p:cNvPr id="4" name="Date Placeholder 3">
            <a:extLst>
              <a:ext uri="{FF2B5EF4-FFF2-40B4-BE49-F238E27FC236}">
                <a16:creationId xmlns:a16="http://schemas.microsoft.com/office/drawing/2014/main" id="{A4A2813B-737E-30B8-B5BD-06FC188663B1}"/>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35BC59F8-5248-F99F-69E4-6CFBFAE39E25}"/>
              </a:ext>
            </a:extLst>
          </p:cNvPr>
          <p:cNvSpPr>
            <a:spLocks noGrp="1"/>
          </p:cNvSpPr>
          <p:nvPr>
            <p:ph type="ftr" sz="quarter" idx="11"/>
          </p:nvPr>
        </p:nvSpPr>
        <p:spPr/>
        <p:txBody>
          <a:bodyPr/>
          <a:lstStyle/>
          <a:p>
            <a:r>
              <a:rPr lang="en-US"/>
              <a:t>DASC 41103 – Project 1 – Group 29</a:t>
            </a:r>
          </a:p>
        </p:txBody>
      </p:sp>
      <p:sp>
        <p:nvSpPr>
          <p:cNvPr id="6" name="Content Placeholder 5">
            <a:extLst>
              <a:ext uri="{FF2B5EF4-FFF2-40B4-BE49-F238E27FC236}">
                <a16:creationId xmlns:a16="http://schemas.microsoft.com/office/drawing/2014/main" id="{93FDDACD-8262-2B16-275C-B143094EAE31}"/>
              </a:ext>
            </a:extLst>
          </p:cNvPr>
          <p:cNvSpPr>
            <a:spLocks noGrp="1"/>
          </p:cNvSpPr>
          <p:nvPr>
            <p:ph idx="1"/>
          </p:nvPr>
        </p:nvSpPr>
        <p:spPr/>
        <p:txBody>
          <a:bodyPr/>
          <a:lstStyle/>
          <a:p>
            <a:r>
              <a:rPr lang="en-US" b="1"/>
              <a:t>Bias in dataset: </a:t>
            </a:r>
            <a:r>
              <a:rPr lang="en-US"/>
              <a:t>Reflects historical inequalities (gender, race, occupation)</a:t>
            </a:r>
          </a:p>
          <a:p>
            <a:r>
              <a:rPr lang="en-US" b="1"/>
              <a:t>Risk of harm: </a:t>
            </a:r>
            <a:r>
              <a:rPr lang="en-US"/>
              <a:t>Predictions may reinforce stereotypes or unfairly influence decisions</a:t>
            </a:r>
          </a:p>
          <a:p>
            <a:r>
              <a:rPr lang="en-US" b="1"/>
              <a:t>Fairness &amp; accountability: </a:t>
            </a:r>
            <a:r>
              <a:rPr lang="en-US"/>
              <a:t>Need to audit models for bias and explain decisions to stakeholders</a:t>
            </a:r>
          </a:p>
          <a:p>
            <a:r>
              <a:rPr lang="en-US" b="1"/>
              <a:t>Transparency: </a:t>
            </a:r>
            <a:r>
              <a:rPr lang="en-US"/>
              <a:t>Communicate limitations clearly when deploying in real‑world settings</a:t>
            </a:r>
          </a:p>
        </p:txBody>
      </p:sp>
    </p:spTree>
    <p:extLst>
      <p:ext uri="{BB962C8B-B14F-4D97-AF65-F5344CB8AC3E}">
        <p14:creationId xmlns:p14="http://schemas.microsoft.com/office/powerpoint/2010/main" val="164912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8B6FE-2046-B3F3-5EAF-E940DE467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CF904-8503-A602-03CF-D41813F33466}"/>
              </a:ext>
            </a:extLst>
          </p:cNvPr>
          <p:cNvSpPr>
            <a:spLocks noGrp="1"/>
          </p:cNvSpPr>
          <p:nvPr>
            <p:ph type="title"/>
          </p:nvPr>
        </p:nvSpPr>
        <p:spPr/>
        <p:txBody>
          <a:bodyPr/>
          <a:lstStyle/>
          <a:p>
            <a:r>
              <a:rPr lang="en-US"/>
              <a:t>Reflection: Activation Functions</a:t>
            </a:r>
          </a:p>
        </p:txBody>
      </p:sp>
      <p:sp>
        <p:nvSpPr>
          <p:cNvPr id="4" name="Date Placeholder 3">
            <a:extLst>
              <a:ext uri="{FF2B5EF4-FFF2-40B4-BE49-F238E27FC236}">
                <a16:creationId xmlns:a16="http://schemas.microsoft.com/office/drawing/2014/main" id="{80856B42-DD7E-540D-A109-418D8FE30723}"/>
              </a:ext>
            </a:extLst>
          </p:cNvPr>
          <p:cNvSpPr>
            <a:spLocks noGrp="1"/>
          </p:cNvSpPr>
          <p:nvPr>
            <p:ph type="dt" sz="half" idx="10"/>
          </p:nvPr>
        </p:nvSpPr>
        <p:spPr/>
        <p:txBody>
          <a:bodyPr/>
          <a:lstStyle/>
          <a:p>
            <a:r>
              <a:rPr lang="en-US"/>
              <a:t>9/30/2025</a:t>
            </a:r>
          </a:p>
        </p:txBody>
      </p:sp>
      <p:sp>
        <p:nvSpPr>
          <p:cNvPr id="5" name="Footer Placeholder 4">
            <a:extLst>
              <a:ext uri="{FF2B5EF4-FFF2-40B4-BE49-F238E27FC236}">
                <a16:creationId xmlns:a16="http://schemas.microsoft.com/office/drawing/2014/main" id="{16CAD6A1-E9BB-ED3C-F8C9-3DEBC85BD79A}"/>
              </a:ext>
            </a:extLst>
          </p:cNvPr>
          <p:cNvSpPr>
            <a:spLocks noGrp="1"/>
          </p:cNvSpPr>
          <p:nvPr>
            <p:ph type="ftr" sz="quarter" idx="11"/>
          </p:nvPr>
        </p:nvSpPr>
        <p:spPr/>
        <p:txBody>
          <a:bodyPr/>
          <a:lstStyle/>
          <a:p>
            <a:r>
              <a:rPr lang="en-US"/>
              <a:t>DASC 41103 – Project 1 – Group 29</a:t>
            </a:r>
          </a:p>
        </p:txBody>
      </p:sp>
      <p:sp>
        <p:nvSpPr>
          <p:cNvPr id="6" name="Content Placeholder 5">
            <a:extLst>
              <a:ext uri="{FF2B5EF4-FFF2-40B4-BE49-F238E27FC236}">
                <a16:creationId xmlns:a16="http://schemas.microsoft.com/office/drawing/2014/main" id="{3E76F274-1F36-91BC-6C59-783B85A646A0}"/>
              </a:ext>
            </a:extLst>
          </p:cNvPr>
          <p:cNvSpPr>
            <a:spLocks noGrp="1"/>
          </p:cNvSpPr>
          <p:nvPr>
            <p:ph idx="1"/>
          </p:nvPr>
        </p:nvSpPr>
        <p:spPr/>
        <p:txBody>
          <a:bodyPr>
            <a:normAutofit/>
          </a:bodyPr>
          <a:lstStyle/>
          <a:p>
            <a:r>
              <a:rPr lang="en-US" b="1"/>
              <a:t>Enable non‑linearity: </a:t>
            </a:r>
            <a:r>
              <a:rPr lang="en-US"/>
              <a:t>Allow network to learn complex decision boundaries</a:t>
            </a:r>
          </a:p>
          <a:p>
            <a:r>
              <a:rPr lang="en-US" b="1"/>
              <a:t>Prevent collapse: </a:t>
            </a:r>
            <a:r>
              <a:rPr lang="en-US"/>
              <a:t>Without activations, network reduces to linear regression</a:t>
            </a:r>
          </a:p>
          <a:p>
            <a:r>
              <a:rPr lang="en-US" b="1"/>
              <a:t>Examples:</a:t>
            </a:r>
          </a:p>
          <a:p>
            <a:pPr lvl="1"/>
            <a:r>
              <a:rPr lang="en-US" err="1"/>
              <a:t>ReLU</a:t>
            </a:r>
            <a:r>
              <a:rPr lang="en-US"/>
              <a:t>: efficient, avoids vanishing gradient, widely used in hidden layers</a:t>
            </a:r>
          </a:p>
          <a:p>
            <a:pPr lvl="1"/>
            <a:r>
              <a:rPr lang="en-US"/>
              <a:t>Sigmoid: maps outputs to probability range [0,1], useful for binary classification</a:t>
            </a:r>
          </a:p>
          <a:p>
            <a:r>
              <a:rPr lang="en-US" b="1"/>
              <a:t>Impact: </a:t>
            </a:r>
            <a:r>
              <a:rPr lang="en-US"/>
              <a:t>Activation choice directly affects training stability and model accuracy</a:t>
            </a:r>
          </a:p>
        </p:txBody>
      </p:sp>
    </p:spTree>
    <p:extLst>
      <p:ext uri="{BB962C8B-B14F-4D97-AF65-F5344CB8AC3E}">
        <p14:creationId xmlns:p14="http://schemas.microsoft.com/office/powerpoint/2010/main" val="3301770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0</TotalTime>
  <Words>925</Words>
  <Application>Microsoft Macintosh PowerPoint</Application>
  <PresentationFormat>Widescreen</PresentationFormat>
  <Paragraphs>175</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Machine Learning Applying MLP</vt:lpstr>
      <vt:lpstr>Workflow</vt:lpstr>
      <vt:lpstr>Workflow</vt:lpstr>
      <vt:lpstr>Model Development – Baseline Model</vt:lpstr>
      <vt:lpstr>Model Development</vt:lpstr>
      <vt:lpstr>Model Development</vt:lpstr>
      <vt:lpstr>Model Development – Best Model</vt:lpstr>
      <vt:lpstr>Model Development – Best Model</vt:lpstr>
      <vt:lpstr>PowerPoint Presentation</vt:lpstr>
      <vt:lpstr>Reflection: Architecture Choice</vt:lpstr>
      <vt:lpstr>Reflection: Overfitting</vt:lpstr>
      <vt:lpstr>Reflection: Ethical Concerns</vt:lpstr>
      <vt:lpstr>Reflection: Activation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Addison Wilson</dc:creator>
  <cp:lastModifiedBy>Ruth Walters</cp:lastModifiedBy>
  <cp:revision>2</cp:revision>
  <dcterms:created xsi:type="dcterms:W3CDTF">2025-09-30T18:24:20Z</dcterms:created>
  <dcterms:modified xsi:type="dcterms:W3CDTF">2025-11-07T04:01:02Z</dcterms:modified>
</cp:coreProperties>
</file>